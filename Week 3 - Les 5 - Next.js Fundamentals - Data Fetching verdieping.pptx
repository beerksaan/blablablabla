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</p:sldMasterIdLst>
  <p:sldIdLst>
    <p:sldId id="256" r:id="rId6"/>
    <p:sldId id="257" r:id="rId7"/>
    <p:sldId id="258" r:id="rId8"/>
    <p:sldId id="259" r:id="rId9"/>
    <p:sldId id="260" r:id="rId10"/>
    <p:sldId id="262" r:id="rId11"/>
    <p:sldId id="261" r:id="rId12"/>
    <p:sldId id="268" r:id="rId13"/>
    <p:sldId id="269" r:id="rId14"/>
    <p:sldId id="270" r:id="rId15"/>
    <p:sldId id="266" r:id="rId16"/>
  </p:sldIdLst>
  <p:sldSz cx="9144000" cy="5143500" type="screen16x9"/>
  <p:notesSz cx="7559675" cy="10691813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3BBE5C-4E17-C8F9-7E66-272051592060}" v="6" dt="2025-11-17T16:51:41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212"/>
    <p:restoredTop sz="94621"/>
  </p:normalViewPr>
  <p:slideViewPr>
    <p:cSldViewPr snapToGrid="0">
      <p:cViewPr varScale="1">
        <p:scale>
          <a:sx n="108" d="100"/>
          <a:sy n="108" d="100"/>
        </p:scale>
        <p:origin x="102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son, B" userId="S::wilb01@rocmondriaan.nl::08499b1e-4dbd-4647-aebe-a40f8543c379" providerId="AD" clId="Web-{DE3BBE5C-4E17-C8F9-7E66-272051592060}"/>
    <pc:docChg chg="modSld">
      <pc:chgData name="Wilson, B" userId="S::wilb01@rocmondriaan.nl::08499b1e-4dbd-4647-aebe-a40f8543c379" providerId="AD" clId="Web-{DE3BBE5C-4E17-C8F9-7E66-272051592060}" dt="2025-11-17T16:51:41.467" v="5" actId="20577"/>
      <pc:docMkLst>
        <pc:docMk/>
      </pc:docMkLst>
      <pc:sldChg chg="modSp">
        <pc:chgData name="Wilson, B" userId="S::wilb01@rocmondriaan.nl::08499b1e-4dbd-4647-aebe-a40f8543c379" providerId="AD" clId="Web-{DE3BBE5C-4E17-C8F9-7E66-272051592060}" dt="2025-11-17T16:51:41.467" v="5" actId="20577"/>
        <pc:sldMkLst>
          <pc:docMk/>
          <pc:sldMk cId="0" sldId="266"/>
        </pc:sldMkLst>
        <pc:spChg chg="mod">
          <ac:chgData name="Wilson, B" userId="S::wilb01@rocmondriaan.nl::08499b1e-4dbd-4647-aebe-a40f8543c379" providerId="AD" clId="Web-{DE3BBE5C-4E17-C8F9-7E66-272051592060}" dt="2025-11-17T16:51:41.467" v="5" actId="20577"/>
          <ac:spMkLst>
            <pc:docMk/>
            <pc:sldMk cId="0" sldId="266"/>
            <ac:spMk id="12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8D25192D-C09F-42F7-9316-0E8ADA0FFACA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566000"/>
            <a:ext cx="813564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1A0E7B33-EA3C-4C04-94AE-C3CB3B14CE14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813564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F9F1229-6B81-481D-9BBA-16A6C9D97E7D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397008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2800" y="1566000"/>
            <a:ext cx="397008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4C8F3B4D-A48B-48C8-8223-44B56DEABDD5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98EC946B-25A1-47C4-A7B9-CC91304AB387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504000" y="288000"/>
            <a:ext cx="8135640" cy="450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6A94612-1D89-48D3-974B-5BE1BC8DDDA6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397008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2800" y="1566000"/>
            <a:ext cx="397008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504000" y="3060720"/>
            <a:ext cx="397008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36067650-CA0F-4C7A-BC8E-74BA2EAB33D6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397008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2800" y="1566000"/>
            <a:ext cx="397008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672800" y="3060720"/>
            <a:ext cx="397008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836CD885-E76A-4670-9C6F-58087AB5F0E1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397008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672800" y="1566000"/>
            <a:ext cx="397008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504000" y="3060720"/>
            <a:ext cx="813564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DAC44740-3652-44EB-8A82-FBF5F1CBBD09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813564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04000" y="3060720"/>
            <a:ext cx="813564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4813C753-5F40-484C-91FA-CA444050464F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397008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672800" y="1566000"/>
            <a:ext cx="397008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504000" y="3060720"/>
            <a:ext cx="397008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672800" y="3060720"/>
            <a:ext cx="397008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48A912E1-7A8B-46F6-9A74-F048B610F144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261936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3254760" y="1566000"/>
            <a:ext cx="261936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6005520" y="1566000"/>
            <a:ext cx="261936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504000" y="3060720"/>
            <a:ext cx="261936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3254760" y="3060720"/>
            <a:ext cx="261936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6005520" y="3060720"/>
            <a:ext cx="261936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0D25C24F-E0A1-4E51-9943-D35271796689}" type="slidenum">
              <a:t>‹nr.›</a:t>
            </a:fld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F84D28C8-DA71-414A-B3FB-0BC88060B73F}" type="slidenum">
              <a:t>‹nr.›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504000" y="1566000"/>
            <a:ext cx="813564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ED985257-4F32-4E7C-B272-2613B71BB081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813564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2AD3A125-4E61-412A-936A-78433A4D2406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397008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672800" y="1566000"/>
            <a:ext cx="397008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DBDF45E3-831C-4A0C-9A12-B458658D9673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359EA561-9509-44FF-83B7-FC6E92E99D35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504000" y="288000"/>
            <a:ext cx="8135640" cy="450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369C15C0-8F7E-4B0E-AE33-8E20472DD04A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397008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672800" y="1566000"/>
            <a:ext cx="397008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504000" y="3060720"/>
            <a:ext cx="397008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4DF63BF6-3AEB-4C6D-866C-26F95077672B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397008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4672800" y="1566000"/>
            <a:ext cx="397008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4672800" y="3060720"/>
            <a:ext cx="397008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AE1DD124-6502-4EF9-8629-D25462586A8A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397008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672800" y="1566000"/>
            <a:ext cx="397008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504000" y="3060720"/>
            <a:ext cx="813564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1B6FC7A8-BE08-434E-A40A-DD8AFF15BB4C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813564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504000" y="3060720"/>
            <a:ext cx="813564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688AA8AA-5CDD-481C-B910-87B29F097447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397008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672800" y="1566000"/>
            <a:ext cx="397008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504000" y="3060720"/>
            <a:ext cx="397008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4672800" y="3060720"/>
            <a:ext cx="397008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FF90DFFE-BC3B-430B-B40A-1DCEBD22C9E2}" type="slidenum">
              <a:t>‹nr.›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261936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3254760" y="1566000"/>
            <a:ext cx="261936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6005520" y="1566000"/>
            <a:ext cx="261936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/>
          </p:nvPr>
        </p:nvSpPr>
        <p:spPr>
          <a:xfrm>
            <a:off x="504000" y="3060720"/>
            <a:ext cx="261936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/>
          </p:nvPr>
        </p:nvSpPr>
        <p:spPr>
          <a:xfrm>
            <a:off x="3254760" y="3060720"/>
            <a:ext cx="261936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/>
          </p:nvPr>
        </p:nvSpPr>
        <p:spPr>
          <a:xfrm>
            <a:off x="6005520" y="3060720"/>
            <a:ext cx="2619360" cy="136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1800"/>
              </a:lnSpc>
              <a:spcBef>
                <a:spcPts val="1417"/>
              </a:spcBef>
              <a:buNone/>
            </a:pP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4C3F73A6-5AFD-4C8F-A67E-CE087E150128}" type="slidenum">
              <a:t>‹nr.›</a:t>
            </a:fld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kstvak 6" hidden="1"/>
          <p:cNvSpPr/>
          <p:nvPr/>
        </p:nvSpPr>
        <p:spPr>
          <a:xfrm>
            <a:off x="7380000" y="4590000"/>
            <a:ext cx="1043640" cy="1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0" tIns="0" rIns="108000" bIns="4500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nl-NL" sz="900" b="0" strike="noStrike" spc="-1">
                <a:solidFill>
                  <a:srgbClr val="000000"/>
                </a:solidFill>
                <a:latin typeface="Arial"/>
              </a:rPr>
              <a:t>ROC Mondriaan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" name="Rechte verbindingslijn 8"/>
          <p:cNvCxnSpPr/>
          <p:nvPr/>
        </p:nvCxnSpPr>
        <p:spPr>
          <a:xfrm>
            <a:off x="7398000" y="4600440"/>
            <a:ext cx="360" cy="128880"/>
          </a:xfrm>
          <a:prstGeom prst="straightConnector1">
            <a:avLst/>
          </a:prstGeom>
          <a:ln>
            <a:solidFill>
              <a:srgbClr val="0050AA"/>
            </a:solidFill>
          </a:ln>
        </p:spPr>
      </p:cxnSp>
      <p:cxnSp>
        <p:nvCxnSpPr>
          <p:cNvPr id="2" name="Rechte verbindingslijn 9"/>
          <p:cNvCxnSpPr/>
          <p:nvPr/>
        </p:nvCxnSpPr>
        <p:spPr>
          <a:xfrm>
            <a:off x="8424000" y="4600440"/>
            <a:ext cx="360" cy="128880"/>
          </a:xfrm>
          <a:prstGeom prst="straightConnector1">
            <a:avLst/>
          </a:prstGeom>
          <a:ln>
            <a:solidFill>
              <a:srgbClr val="0050AA"/>
            </a:solidFill>
          </a:ln>
        </p:spPr>
      </p:cxn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8424000" y="5400000"/>
            <a:ext cx="215640" cy="179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nl-NL" sz="1200" b="0" strike="noStrike" spc="-1">
                <a:solidFill>
                  <a:srgbClr val="EFEFE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C21B2E4-3CE5-49BD-B4A0-46F869199A3E}" type="slidenum">
              <a:rPr lang="nl-NL" sz="1200" b="0" strike="noStrike" spc="-1">
                <a:solidFill>
                  <a:srgbClr val="EFEFEF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504000" y="1836000"/>
            <a:ext cx="8135640" cy="12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95000"/>
              </a:lnSpc>
              <a:buNone/>
            </a:pPr>
            <a:r>
              <a:rPr lang="nl-NL" sz="4000" b="1" strike="noStrike" spc="-1">
                <a:solidFill>
                  <a:srgbClr val="FFFFFF"/>
                </a:solidFill>
                <a:latin typeface="Arial"/>
              </a:rPr>
              <a:t>Klik om stijl te bewerken</a:t>
            </a:r>
            <a:endParaRPr lang="nl-NL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6840000" y="4428000"/>
            <a:ext cx="1799640" cy="21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nl-NL" sz="13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nl-NL" sz="1300" b="0" strike="noStrike" spc="-1">
                <a:solidFill>
                  <a:srgbClr val="000000"/>
                </a:solidFill>
                <a:latin typeface="Arial"/>
              </a:rPr>
              <a:t>&lt;date/time&gt;</a:t>
            </a:r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792000" y="216000"/>
            <a:ext cx="2807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300" b="1" strike="noStrike" spc="-1">
                <a:solidFill>
                  <a:srgbClr val="000000"/>
                </a:solidFill>
                <a:latin typeface="Arial"/>
              </a:rPr>
              <a:t>Klikken om de schoolnaam of sectornaam te bewerken</a:t>
            </a: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Rechthoek 12"/>
          <p:cNvSpPr/>
          <p:nvPr/>
        </p:nvSpPr>
        <p:spPr>
          <a:xfrm>
            <a:off x="504000" y="0"/>
            <a:ext cx="143640" cy="64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350" b="0" strike="noStrike" spc="-1">
              <a:solidFill>
                <a:schemeClr val="lt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kstvak 6"/>
          <p:cNvSpPr/>
          <p:nvPr/>
        </p:nvSpPr>
        <p:spPr>
          <a:xfrm>
            <a:off x="7380000" y="4590000"/>
            <a:ext cx="1043640" cy="1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0" tIns="0" rIns="108000" bIns="4500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nl-NL" sz="900" b="0" strike="noStrike" spc="-1">
                <a:solidFill>
                  <a:srgbClr val="000000"/>
                </a:solidFill>
                <a:latin typeface="Arial"/>
              </a:rPr>
              <a:t>ROC Mondriaan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5" name="Rechte verbindingslijn 8"/>
          <p:cNvCxnSpPr/>
          <p:nvPr/>
        </p:nvCxnSpPr>
        <p:spPr>
          <a:xfrm>
            <a:off x="7398000" y="4600440"/>
            <a:ext cx="360" cy="128880"/>
          </a:xfrm>
          <a:prstGeom prst="straightConnector1">
            <a:avLst/>
          </a:prstGeom>
          <a:ln>
            <a:solidFill>
              <a:srgbClr val="0050AA"/>
            </a:solidFill>
          </a:ln>
        </p:spPr>
      </p:cxnSp>
      <p:cxnSp>
        <p:nvCxnSpPr>
          <p:cNvPr id="46" name="Rechte verbindingslijn 9"/>
          <p:cNvCxnSpPr/>
          <p:nvPr/>
        </p:nvCxnSpPr>
        <p:spPr>
          <a:xfrm>
            <a:off x="8424000" y="4600440"/>
            <a:ext cx="360" cy="128880"/>
          </a:xfrm>
          <a:prstGeom prst="straightConnector1">
            <a:avLst/>
          </a:prstGeom>
          <a:ln>
            <a:solidFill>
              <a:srgbClr val="0050AA"/>
            </a:solidFill>
          </a:ln>
        </p:spPr>
      </p:cxnSp>
      <p:sp>
        <p:nvSpPr>
          <p:cNvPr id="47" name="Graphic 5"/>
          <p:cNvSpPr/>
          <p:nvPr/>
        </p:nvSpPr>
        <p:spPr>
          <a:xfrm>
            <a:off x="252000" y="0"/>
            <a:ext cx="8639640" cy="1492200"/>
          </a:xfrm>
          <a:custGeom>
            <a:avLst/>
            <a:gdLst>
              <a:gd name="textAreaLeft" fmla="*/ 0 w 8639640"/>
              <a:gd name="textAreaRight" fmla="*/ 8640000 w 8639640"/>
              <a:gd name="textAreaTop" fmla="*/ 0 h 1492200"/>
              <a:gd name="textAreaBottom" fmla="*/ 1492560 h 1492200"/>
            </a:gdLst>
            <a:ahLst/>
            <a:cxnLst/>
            <a:rect l="textAreaLeft" t="textAreaTop" r="textAreaRight" b="textAreaBottom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nl-NL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95000"/>
              </a:lnSpc>
              <a:buNone/>
            </a:pPr>
            <a:r>
              <a:rPr lang="nl-NL" sz="3000" b="1" strike="noStrike" spc="-1">
                <a:solidFill>
                  <a:srgbClr val="FFFFFF"/>
                </a:solidFill>
                <a:latin typeface="Arial"/>
              </a:rPr>
              <a:t>Klik om stijl te bewerken</a:t>
            </a:r>
            <a:endParaRPr lang="nl-NL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04000" y="1566000"/>
            <a:ext cx="813564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180000" indent="-180000">
              <a:lnSpc>
                <a:spcPts val="1800"/>
              </a:lnSpc>
              <a:buClr>
                <a:srgbClr val="000000"/>
              </a:buClr>
              <a:buSzPct val="120000"/>
              <a:buFont typeface="Arial"/>
              <a:buChar char="•"/>
            </a:pPr>
            <a:r>
              <a:rPr lang="nl-NL" sz="1300" b="0" strike="noStrike" spc="-1">
                <a:solidFill>
                  <a:srgbClr val="000000"/>
                </a:solidFill>
                <a:latin typeface="Arial"/>
              </a:rPr>
              <a:t>Klikken om de tekststijl van het model te bewerken</a:t>
            </a:r>
          </a:p>
          <a:p>
            <a:pPr marL="360000" lvl="1" indent="-180000">
              <a:lnSpc>
                <a:spcPts val="1800"/>
              </a:lnSpc>
              <a:buClr>
                <a:srgbClr val="000000"/>
              </a:buClr>
              <a:buSzPct val="120000"/>
              <a:buFont typeface="Systeemlettertype regulier"/>
              <a:buChar char="-"/>
            </a:pPr>
            <a:r>
              <a:rPr lang="nl-NL" sz="1300" b="0" strike="noStrike" spc="-1">
                <a:solidFill>
                  <a:srgbClr val="000000"/>
                </a:solidFill>
                <a:latin typeface="Arial"/>
              </a:rPr>
              <a:t>Tweede niveau</a:t>
            </a:r>
          </a:p>
          <a:p>
            <a:pPr indent="0">
              <a:lnSpc>
                <a:spcPts val="1800"/>
              </a:lnSpc>
              <a:buNone/>
              <a:tabLst>
                <a:tab pos="0" algn="l"/>
              </a:tabLst>
            </a:pPr>
            <a:r>
              <a:rPr lang="nl-NL" sz="1300" b="0" strike="noStrike" spc="-1">
                <a:solidFill>
                  <a:srgbClr val="000000"/>
                </a:solidFill>
                <a:latin typeface="Arial"/>
              </a:rPr>
              <a:t>Derde niveau</a:t>
            </a:r>
          </a:p>
          <a:p>
            <a:pPr indent="0">
              <a:lnSpc>
                <a:spcPts val="1800"/>
              </a:lnSpc>
              <a:buNone/>
              <a:tabLst>
                <a:tab pos="0" algn="l"/>
              </a:tabLst>
            </a:pPr>
            <a:r>
              <a:rPr lang="nl-NL" sz="1300" b="1" strike="noStrike" spc="-1">
                <a:solidFill>
                  <a:srgbClr val="002355"/>
                </a:solidFill>
                <a:latin typeface="Arial"/>
              </a:rPr>
              <a:t>Vierde niveau</a:t>
            </a:r>
            <a:endParaRPr lang="nl-NL" sz="1300" b="0" strike="noStrike" spc="-1">
              <a:solidFill>
                <a:srgbClr val="000000"/>
              </a:solidFill>
              <a:latin typeface="Arial"/>
            </a:endParaRPr>
          </a:p>
          <a:p>
            <a:pPr marL="540000" lvl="4" indent="-180000">
              <a:lnSpc>
                <a:spcPts val="18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nl-NL" sz="1300" b="0" strike="noStrike" spc="-1">
                <a:solidFill>
                  <a:srgbClr val="000000"/>
                </a:solidFill>
                <a:latin typeface="Arial"/>
              </a:rPr>
              <a:t>Vijfde niveau</a:t>
            </a:r>
          </a:p>
        </p:txBody>
      </p:sp>
      <p:sp>
        <p:nvSpPr>
          <p:cNvPr id="50" name="PlaceHolder 3"/>
          <p:cNvSpPr>
            <a:spLocks noGrp="1"/>
          </p:cNvSpPr>
          <p:nvPr>
            <p:ph type="dt" idx="3"/>
          </p:nvPr>
        </p:nvSpPr>
        <p:spPr>
          <a:xfrm>
            <a:off x="504000" y="4590000"/>
            <a:ext cx="143964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defRPr lang="nl-NL" sz="9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nl-NL" sz="900" b="0" strike="noStrike" spc="-1">
                <a:solidFill>
                  <a:srgbClr val="000000"/>
                </a:solidFill>
                <a:latin typeface="Arial"/>
              </a:rPr>
              <a:t>&lt;date/time&gt;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4"/>
          </p:nvPr>
        </p:nvSpPr>
        <p:spPr>
          <a:xfrm>
            <a:off x="8424000" y="4590000"/>
            <a:ext cx="467640" cy="179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nl-NL" sz="1200" b="0" strike="noStrike" spc="-1">
                <a:solidFill>
                  <a:srgbClr val="787878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A92DC4D-51B1-40E0-9FC6-917649A8769D}" type="slidenum">
              <a:rPr lang="nl-NL" sz="1200" b="0" strike="noStrike" spc="-1">
                <a:solidFill>
                  <a:srgbClr val="787878"/>
                </a:solidFill>
                <a:latin typeface="Arial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4000" y="1836000"/>
            <a:ext cx="8135640" cy="12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95000"/>
              </a:lnSpc>
              <a:buNone/>
              <a:tabLst>
                <a:tab pos="0" algn="l"/>
              </a:tabLst>
            </a:pPr>
            <a:r>
              <a:rPr lang="nl-NL" sz="4000" b="1" strike="noStrike" spc="-1" dirty="0" err="1">
                <a:solidFill>
                  <a:srgbClr val="FFFFFF"/>
                </a:solidFill>
                <a:latin typeface="Arial"/>
              </a:rPr>
              <a:t>Next.js</a:t>
            </a:r>
            <a:endParaRPr lang="nl-NL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504000" y="3060000"/>
            <a:ext cx="8135640" cy="3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95000"/>
              </a:lnSpc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FFFFFF"/>
                </a:solidFill>
                <a:latin typeface="Arial"/>
              </a:rPr>
              <a:t>Les 5: Next.js Fundamentals - Data Fetching </a:t>
            </a:r>
            <a:r>
              <a:rPr lang="en-US" sz="2000" b="0" strike="noStrike" spc="-1" dirty="0" err="1">
                <a:solidFill>
                  <a:srgbClr val="FFFFFF"/>
                </a:solidFill>
                <a:latin typeface="Arial"/>
              </a:rPr>
              <a:t>Verdieping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dt" idx="5"/>
          </p:nvPr>
        </p:nvSpPr>
        <p:spPr>
          <a:xfrm>
            <a:off x="6840000" y="4428000"/>
            <a:ext cx="1799640" cy="21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nl-NL" sz="13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nl-NL" sz="1300" b="0" strike="noStrike" spc="-1">
                <a:solidFill>
                  <a:srgbClr val="000000"/>
                </a:solidFill>
                <a:latin typeface="Arial"/>
              </a:rPr>
              <a:t>2025-10-27</a:t>
            </a:r>
            <a:endParaRPr lang="en-US" sz="13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sldNum" idx="6"/>
          </p:nvPr>
        </p:nvSpPr>
        <p:spPr>
          <a:xfrm>
            <a:off x="8424000" y="5400000"/>
            <a:ext cx="215640" cy="179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nl-NL" sz="1200" b="0" strike="noStrike" spc="-1">
                <a:solidFill>
                  <a:srgbClr val="EFEFE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7E7AF71-1545-4B9F-B9DB-8E57801119A3}" type="slidenum">
              <a:rPr lang="nl-NL" sz="1200" b="0" strike="noStrike" spc="-1">
                <a:solidFill>
                  <a:srgbClr val="EFEFEF"/>
                </a:solidFill>
                <a:latin typeface="Arial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95000"/>
              </a:lnSpc>
              <a:buNone/>
              <a:tabLst>
                <a:tab pos="0" algn="l"/>
              </a:tabLst>
            </a:pPr>
            <a:r>
              <a:rPr lang="nl-NL" sz="3000" b="1" strike="noStrike" spc="-1" dirty="0">
                <a:solidFill>
                  <a:srgbClr val="FFFFFF"/>
                </a:solidFill>
                <a:latin typeface="Arial"/>
              </a:rPr>
              <a:t>Terugblik: Les 4</a:t>
            </a:r>
            <a:endParaRPr lang="nl-NL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813564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180000" indent="-180000">
              <a:lnSpc>
                <a:spcPts val="1800"/>
              </a:lnSpc>
              <a:buClr>
                <a:srgbClr val="000000"/>
              </a:buClr>
              <a:buSzPct val="120000"/>
              <a:buFont typeface="Arial"/>
              <a:buChar char="•"/>
            </a:pPr>
            <a:r>
              <a:rPr lang="nl-NL" sz="1300" b="1" spc="-1" dirty="0">
                <a:solidFill>
                  <a:srgbClr val="000000"/>
                </a:solidFill>
              </a:rPr>
              <a:t>State &amp; </a:t>
            </a:r>
            <a:r>
              <a:rPr lang="nl-NL" sz="1300" b="1" spc="-1" dirty="0" err="1">
                <a:solidFill>
                  <a:srgbClr val="000000"/>
                </a:solidFill>
              </a:rPr>
              <a:t>Props</a:t>
            </a:r>
            <a:r>
              <a:rPr lang="nl-NL" sz="1300" spc="-1" dirty="0">
                <a:solidFill>
                  <a:srgbClr val="000000"/>
                </a:solidFill>
              </a:rPr>
              <a:t>: De kern van </a:t>
            </a:r>
            <a:r>
              <a:rPr lang="nl-NL" sz="1300" spc="-1" dirty="0" err="1">
                <a:solidFill>
                  <a:srgbClr val="000000"/>
                </a:solidFill>
              </a:rPr>
              <a:t>React</a:t>
            </a:r>
            <a:r>
              <a:rPr lang="nl-NL" sz="1300" spc="-1" dirty="0">
                <a:solidFill>
                  <a:srgbClr val="000000"/>
                </a:solidFill>
              </a:rPr>
              <a:t>.</a:t>
            </a:r>
          </a:p>
          <a:p>
            <a:pPr marL="360000" lvl="1" indent="-180000">
              <a:lnSpc>
                <a:spcPts val="1800"/>
              </a:lnSpc>
              <a:buClr>
                <a:srgbClr val="000000"/>
              </a:buClr>
              <a:buSzPct val="120000"/>
              <a:buFont typeface="Systeemlettertype regulier"/>
              <a:buChar char="-"/>
            </a:pPr>
            <a:r>
              <a:rPr lang="nl-NL" sz="1300" spc="-1" dirty="0" err="1">
                <a:solidFill>
                  <a:srgbClr val="000000"/>
                </a:solidFill>
                <a:latin typeface="Courier New"/>
              </a:rPr>
              <a:t>useState</a:t>
            </a:r>
            <a:r>
              <a:rPr lang="nl-NL" sz="1300" spc="-1" dirty="0">
                <a:solidFill>
                  <a:srgbClr val="000000"/>
                </a:solidFill>
              </a:rPr>
              <a:t> voor het beheren van de interne staat van een component.</a:t>
            </a:r>
          </a:p>
          <a:p>
            <a:pPr marL="360000" lvl="1" indent="-180000">
              <a:lnSpc>
                <a:spcPts val="1800"/>
              </a:lnSpc>
              <a:buClr>
                <a:srgbClr val="000000"/>
              </a:buClr>
              <a:buSzPct val="120000"/>
              <a:buFont typeface="Systeemlettertype regulier"/>
              <a:buChar char="-"/>
            </a:pPr>
            <a:r>
              <a:rPr lang="nl-NL" sz="1300" spc="-1" dirty="0" err="1">
                <a:solidFill>
                  <a:srgbClr val="000000"/>
                </a:solidFill>
                <a:latin typeface="Courier New"/>
              </a:rPr>
              <a:t>props</a:t>
            </a:r>
            <a:r>
              <a:rPr lang="nl-NL" sz="1300" spc="-1" dirty="0">
                <a:solidFill>
                  <a:srgbClr val="000000"/>
                </a:solidFill>
              </a:rPr>
              <a:t> voor het doorgeven van data van </a:t>
            </a:r>
            <a:r>
              <a:rPr lang="nl-NL" sz="1300" spc="-1" dirty="0" err="1">
                <a:solidFill>
                  <a:srgbClr val="000000"/>
                </a:solidFill>
              </a:rPr>
              <a:t>parent</a:t>
            </a:r>
            <a:r>
              <a:rPr lang="nl-NL" sz="1300" spc="-1" dirty="0">
                <a:solidFill>
                  <a:srgbClr val="000000"/>
                </a:solidFill>
              </a:rPr>
              <a:t> naar </a:t>
            </a:r>
            <a:r>
              <a:rPr lang="nl-NL" sz="1300" spc="-1" dirty="0" err="1">
                <a:solidFill>
                  <a:srgbClr val="000000"/>
                </a:solidFill>
              </a:rPr>
              <a:t>child</a:t>
            </a:r>
            <a:r>
              <a:rPr lang="nl-NL" sz="1300" spc="-1" dirty="0">
                <a:solidFill>
                  <a:srgbClr val="000000"/>
                </a:solidFill>
              </a:rPr>
              <a:t>.</a:t>
            </a:r>
          </a:p>
          <a:p>
            <a:pPr marL="180000" indent="-180000">
              <a:lnSpc>
                <a:spcPts val="1800"/>
              </a:lnSpc>
              <a:buClr>
                <a:srgbClr val="000000"/>
              </a:buClr>
              <a:buSzPct val="120000"/>
              <a:buFont typeface="Arial"/>
              <a:buChar char="•"/>
            </a:pPr>
            <a:r>
              <a:rPr lang="nl-NL" sz="1300" b="1" spc="-1" dirty="0" err="1">
                <a:solidFill>
                  <a:srgbClr val="000000"/>
                </a:solidFill>
              </a:rPr>
              <a:t>Hooks</a:t>
            </a:r>
            <a:r>
              <a:rPr lang="nl-NL" sz="1300" spc="-1" dirty="0">
                <a:solidFill>
                  <a:srgbClr val="000000"/>
                </a:solidFill>
              </a:rPr>
              <a:t>: </a:t>
            </a:r>
            <a:r>
              <a:rPr lang="nl-NL" sz="1300" spc="-1" dirty="0" err="1">
                <a:solidFill>
                  <a:srgbClr val="000000"/>
                </a:solidFill>
                <a:latin typeface="Courier New"/>
              </a:rPr>
              <a:t>useEffect</a:t>
            </a:r>
            <a:r>
              <a:rPr lang="nl-NL" sz="1300" spc="-1" dirty="0">
                <a:solidFill>
                  <a:srgbClr val="000000"/>
                </a:solidFill>
              </a:rPr>
              <a:t> voor “side </a:t>
            </a:r>
            <a:r>
              <a:rPr lang="nl-NL" sz="1300" spc="-1" dirty="0" err="1">
                <a:solidFill>
                  <a:srgbClr val="000000"/>
                </a:solidFill>
              </a:rPr>
              <a:t>effects</a:t>
            </a:r>
            <a:r>
              <a:rPr lang="nl-NL" sz="1300" spc="-1" dirty="0">
                <a:solidFill>
                  <a:srgbClr val="000000"/>
                </a:solidFill>
              </a:rPr>
              <a:t>” zoals data ophalen.</a:t>
            </a:r>
          </a:p>
          <a:p>
            <a:pPr marL="180000" indent="-180000">
              <a:lnSpc>
                <a:spcPts val="1800"/>
              </a:lnSpc>
              <a:buClr>
                <a:srgbClr val="000000"/>
              </a:buClr>
              <a:buSzPct val="120000"/>
              <a:buFont typeface="Arial"/>
              <a:buChar char="•"/>
            </a:pPr>
            <a:r>
              <a:rPr lang="nl-NL" sz="1300" b="1" spc="-1" dirty="0">
                <a:solidFill>
                  <a:srgbClr val="000000"/>
                </a:solidFill>
              </a:rPr>
              <a:t>Events</a:t>
            </a:r>
            <a:r>
              <a:rPr lang="nl-NL" sz="1300" spc="-1" dirty="0">
                <a:solidFill>
                  <a:srgbClr val="000000"/>
                </a:solidFill>
              </a:rPr>
              <a:t>: </a:t>
            </a:r>
            <a:r>
              <a:rPr lang="nl-NL" sz="1300" spc="-1" dirty="0" err="1">
                <a:solidFill>
                  <a:srgbClr val="000000"/>
                </a:solidFill>
                <a:latin typeface="Courier New"/>
              </a:rPr>
              <a:t>onClick</a:t>
            </a:r>
            <a:r>
              <a:rPr lang="nl-NL" sz="1300" spc="-1" dirty="0">
                <a:solidFill>
                  <a:srgbClr val="000000"/>
                </a:solidFill>
              </a:rPr>
              <a:t>, </a:t>
            </a:r>
            <a:r>
              <a:rPr lang="nl-NL" sz="1300" spc="-1" dirty="0" err="1">
                <a:solidFill>
                  <a:srgbClr val="000000"/>
                </a:solidFill>
                <a:latin typeface="Courier New"/>
              </a:rPr>
              <a:t>onChange</a:t>
            </a:r>
            <a:r>
              <a:rPr lang="nl-NL" sz="1300" spc="-1" dirty="0">
                <a:solidFill>
                  <a:srgbClr val="000000"/>
                </a:solidFill>
              </a:rPr>
              <a:t> om te reageren op gebruikersinteractie.</a:t>
            </a:r>
          </a:p>
          <a:p>
            <a:pPr marL="180000" indent="-180000">
              <a:lnSpc>
                <a:spcPts val="1800"/>
              </a:lnSpc>
              <a:buClr>
                <a:srgbClr val="000000"/>
              </a:buClr>
              <a:buSzPct val="120000"/>
              <a:buFont typeface="Arial"/>
              <a:buChar char="•"/>
            </a:pPr>
            <a:r>
              <a:rPr lang="nl-NL" sz="1300" b="1" spc="-1" dirty="0">
                <a:solidFill>
                  <a:srgbClr val="000000"/>
                </a:solidFill>
              </a:rPr>
              <a:t>Formulieren</a:t>
            </a:r>
            <a:r>
              <a:rPr lang="nl-NL" sz="1300" spc="-1" dirty="0">
                <a:solidFill>
                  <a:srgbClr val="000000"/>
                </a:solidFill>
              </a:rPr>
              <a:t>: Gecontroleerde componenten waarbij de state in </a:t>
            </a:r>
            <a:r>
              <a:rPr lang="nl-NL" sz="1300" spc="-1" dirty="0" err="1">
                <a:solidFill>
                  <a:srgbClr val="000000"/>
                </a:solidFill>
              </a:rPr>
              <a:t>React</a:t>
            </a:r>
            <a:r>
              <a:rPr lang="nl-NL" sz="1300" spc="-1" dirty="0">
                <a:solidFill>
                  <a:srgbClr val="000000"/>
                </a:solidFill>
              </a:rPr>
              <a:t> leeft.</a:t>
            </a:r>
          </a:p>
        </p:txBody>
      </p:sp>
      <p:sp>
        <p:nvSpPr>
          <p:cNvPr id="94" name="PlaceHolder 3"/>
          <p:cNvSpPr>
            <a:spLocks noGrp="1"/>
          </p:cNvSpPr>
          <p:nvPr>
            <p:ph type="dt" idx="7"/>
          </p:nvPr>
        </p:nvSpPr>
        <p:spPr>
          <a:xfrm>
            <a:off x="504000" y="4590000"/>
            <a:ext cx="143964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defRPr lang="nl-NL" sz="9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nl-NL" sz="900" b="0" strike="noStrike" spc="-1">
                <a:solidFill>
                  <a:srgbClr val="000000"/>
                </a:solidFill>
                <a:latin typeface="Arial"/>
              </a:rPr>
              <a:t>2025-10-27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8"/>
          </p:nvPr>
        </p:nvSpPr>
        <p:spPr>
          <a:xfrm>
            <a:off x="8424000" y="4590000"/>
            <a:ext cx="467640" cy="179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nl-NL" sz="1200" b="0" strike="noStrike" spc="-1">
                <a:solidFill>
                  <a:srgbClr val="787878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BBF80D-E419-4BD5-8CB0-3B181F379A16}" type="slidenum">
              <a:rPr lang="nl-NL" sz="1200" b="0" strike="noStrike" spc="-1">
                <a:solidFill>
                  <a:srgbClr val="787878"/>
                </a:solidFill>
                <a:latin typeface="Arial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95000"/>
              </a:lnSpc>
              <a:buNone/>
              <a:tabLst>
                <a:tab pos="0" algn="l"/>
              </a:tabLst>
            </a:pPr>
            <a:r>
              <a:rPr lang="nl-NL" sz="3000" b="1" strike="noStrike" spc="-1">
                <a:solidFill>
                  <a:srgbClr val="FFFFFF"/>
                </a:solidFill>
                <a:latin typeface="Arial"/>
              </a:rPr>
              <a:t>Lesdoelen</a:t>
            </a:r>
            <a:endParaRPr lang="nl-NL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813564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180000" indent="-180000">
              <a:lnSpc>
                <a:spcPts val="1800"/>
              </a:lnSpc>
              <a:buClr>
                <a:srgbClr val="000000"/>
              </a:buClr>
              <a:buSzPct val="120000"/>
              <a:buFont typeface="Arial"/>
              <a:buChar char="•"/>
            </a:pP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Data ophalen in Server 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Arial"/>
              </a:rPr>
              <a:t>Components</a:t>
            </a: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 met 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Courier New"/>
              </a:rPr>
              <a:t>async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/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Courier New"/>
              </a:rPr>
              <a:t>await</a:t>
            </a: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180000" indent="-180000">
              <a:lnSpc>
                <a:spcPts val="1800"/>
              </a:lnSpc>
              <a:buClr>
                <a:srgbClr val="000000"/>
              </a:buClr>
              <a:buSzPct val="120000"/>
              <a:buFont typeface="Arial"/>
              <a:buChar char="•"/>
            </a:pP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De basis van Prisma ORM en het 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Courier New"/>
              </a:rPr>
              <a:t>schema.prisma</a:t>
            </a: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 bestand begrijpen.</a:t>
            </a:r>
          </a:p>
          <a:p>
            <a:pPr marL="180000" indent="-180000">
              <a:lnSpc>
                <a:spcPts val="1800"/>
              </a:lnSpc>
              <a:buClr>
                <a:srgbClr val="000000"/>
              </a:buClr>
              <a:buSzPct val="120000"/>
              <a:buFont typeface="Arial"/>
              <a:buChar char="•"/>
            </a:pP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De database vullen met testdata (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Arial"/>
              </a:rPr>
              <a:t>seeding</a:t>
            </a: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).</a:t>
            </a:r>
          </a:p>
          <a:p>
            <a:pPr marL="180000" indent="-180000">
              <a:lnSpc>
                <a:spcPts val="1800"/>
              </a:lnSpc>
              <a:buClr>
                <a:srgbClr val="000000"/>
              </a:buClr>
              <a:buSzPct val="120000"/>
              <a:buFont typeface="Arial"/>
              <a:buChar char="•"/>
            </a:pP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Data uit de database weergeven op de pagina in de vorm van cards.</a:t>
            </a:r>
          </a:p>
          <a:p>
            <a:pPr marL="180000" indent="-180000">
              <a:lnSpc>
                <a:spcPts val="1800"/>
              </a:lnSpc>
              <a:buClr>
                <a:srgbClr val="000000"/>
              </a:buClr>
              <a:buSzPct val="120000"/>
              <a:buFont typeface="Arial"/>
              <a:buChar char="•"/>
            </a:pPr>
            <a:r>
              <a:rPr lang="nl-NL" sz="1300" spc="-1" dirty="0">
                <a:solidFill>
                  <a:srgbClr val="000000"/>
                </a:solidFill>
                <a:latin typeface="Arial"/>
              </a:rPr>
              <a:t>Een enkel record uit de database weergeven (detail pagina).</a:t>
            </a:r>
            <a:endParaRPr lang="nl-NL" sz="1300" b="0" strike="noStrike" spc="-1" dirty="0">
              <a:solidFill>
                <a:srgbClr val="000000"/>
              </a:solidFill>
              <a:latin typeface="Arial"/>
            </a:endParaRPr>
          </a:p>
          <a:p>
            <a:pPr marL="0" indent="0">
              <a:lnSpc>
                <a:spcPts val="1800"/>
              </a:lnSpc>
              <a:buClr>
                <a:srgbClr val="000000"/>
              </a:buClr>
              <a:buSzPct val="120000"/>
              <a:buNone/>
            </a:pPr>
            <a:endParaRPr lang="nl-NL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9"/>
          </p:nvPr>
        </p:nvSpPr>
        <p:spPr>
          <a:xfrm>
            <a:off x="504000" y="4590000"/>
            <a:ext cx="143964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defRPr lang="nl-NL" sz="9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nl-NL" sz="900" b="0" strike="noStrike" spc="-1">
                <a:solidFill>
                  <a:srgbClr val="000000"/>
                </a:solidFill>
                <a:latin typeface="Arial"/>
              </a:rPr>
              <a:t>2025-10-27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sldNum" idx="10"/>
          </p:nvPr>
        </p:nvSpPr>
        <p:spPr>
          <a:xfrm>
            <a:off x="8424000" y="4590000"/>
            <a:ext cx="467640" cy="179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nl-NL" sz="1200" b="0" strike="noStrike" spc="-1">
                <a:solidFill>
                  <a:srgbClr val="787878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8615D79-9B4B-4261-8118-7F0CCDA78AEE}" type="slidenum">
              <a:rPr lang="nl-NL" sz="1200" b="0" strike="noStrike" spc="-1">
                <a:solidFill>
                  <a:srgbClr val="787878"/>
                </a:solidFill>
                <a:latin typeface="Arial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95000"/>
              </a:lnSpc>
              <a:buNone/>
              <a:tabLst>
                <a:tab pos="0" algn="l"/>
              </a:tabLst>
            </a:pPr>
            <a:r>
              <a:rPr lang="nl-NL" sz="3000" b="1" strike="noStrike" spc="-1">
                <a:solidFill>
                  <a:srgbClr val="FFFFFF"/>
                </a:solidFill>
                <a:latin typeface="Arial"/>
              </a:rPr>
              <a:t>Data Fetching in Server Components</a:t>
            </a:r>
            <a:endParaRPr lang="nl-NL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813564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ts val="1800"/>
              </a:lnSpc>
              <a:buNone/>
              <a:tabLst>
                <a:tab pos="0" algn="l"/>
              </a:tabLst>
            </a:pP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Componenten in de App Router zijn standaard Server 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Arial"/>
              </a:rPr>
              <a:t>Components</a:t>
            </a: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. Je kunt ze 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Courier New"/>
              </a:rPr>
              <a:t>async</a:t>
            </a: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 maken om direct data op te halen.</a:t>
            </a:r>
          </a:p>
          <a:p>
            <a:pPr marL="180000" indent="0">
              <a:lnSpc>
                <a:spcPts val="1800"/>
              </a:lnSpc>
              <a:buNone/>
              <a:tabLst>
                <a:tab pos="0" algn="l"/>
              </a:tabLst>
            </a:pPr>
            <a:r>
              <a:rPr lang="nl-NL" sz="1300" b="0" i="1" strike="noStrike" spc="-1" dirty="0">
                <a:solidFill>
                  <a:srgbClr val="60A0B0"/>
                </a:solidFill>
                <a:latin typeface="Courier New"/>
              </a:rPr>
              <a:t>// app/</a:t>
            </a:r>
            <a:r>
              <a:rPr lang="nl-NL" sz="1300" i="1" spc="-1" dirty="0" err="1">
                <a:solidFill>
                  <a:srgbClr val="60A0B0"/>
                </a:solidFill>
                <a:latin typeface="Courier New"/>
              </a:rPr>
              <a:t>pokemon</a:t>
            </a:r>
            <a:r>
              <a:rPr lang="nl-NL" sz="1300" b="0" i="1" strike="noStrike" spc="-1" dirty="0">
                <a:solidFill>
                  <a:srgbClr val="60A0B0"/>
                </a:solidFill>
                <a:latin typeface="Courier New"/>
              </a:rPr>
              <a:t>/</a:t>
            </a:r>
            <a:r>
              <a:rPr lang="nl-NL" sz="1300" b="0" i="1" strike="noStrike" spc="-1" dirty="0" err="1">
                <a:solidFill>
                  <a:srgbClr val="60A0B0"/>
                </a:solidFill>
                <a:latin typeface="Courier New"/>
              </a:rPr>
              <a:t>page.tsx</a:t>
            </a:r>
            <a:br>
              <a:rPr sz="1300" dirty="0"/>
            </a:br>
            <a:br>
              <a:rPr sz="1300" dirty="0"/>
            </a:br>
            <a:r>
              <a:rPr lang="nl-NL" sz="1300" b="1" strike="noStrike" spc="-1" dirty="0">
                <a:solidFill>
                  <a:srgbClr val="008000"/>
                </a:solidFill>
                <a:latin typeface="Courier New"/>
              </a:rPr>
              <a:t>import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{ </a:t>
            </a:r>
            <a:r>
              <a:rPr lang="nl-NL" sz="1300" spc="-1" dirty="0">
                <a:solidFill>
                  <a:srgbClr val="000000"/>
                </a:solidFill>
                <a:latin typeface="Courier New"/>
              </a:rPr>
              <a:t>prisma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} </a:t>
            </a:r>
            <a:r>
              <a:rPr lang="nl-NL" sz="1300" b="1" strike="noStrike" spc="-1" dirty="0" err="1">
                <a:solidFill>
                  <a:srgbClr val="008000"/>
                </a:solidFill>
                <a:latin typeface="Courier New"/>
              </a:rPr>
              <a:t>from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nl-NL" sz="1300" b="0" strike="noStrike" spc="-1" dirty="0">
                <a:solidFill>
                  <a:srgbClr val="4070A0"/>
                </a:solidFill>
                <a:latin typeface="Courier New"/>
              </a:rPr>
              <a:t>'@/</a:t>
            </a:r>
            <a:r>
              <a:rPr lang="nl-NL" sz="1300" b="0" strike="noStrike" spc="-1" dirty="0" err="1">
                <a:solidFill>
                  <a:srgbClr val="4070A0"/>
                </a:solidFill>
                <a:latin typeface="Courier New"/>
              </a:rPr>
              <a:t>lib</a:t>
            </a:r>
            <a:r>
              <a:rPr lang="nl-NL" sz="1300" b="0" strike="noStrike" spc="-1" dirty="0">
                <a:solidFill>
                  <a:srgbClr val="4070A0"/>
                </a:solidFill>
                <a:latin typeface="Courier New"/>
              </a:rPr>
              <a:t>/</a:t>
            </a:r>
            <a:r>
              <a:rPr lang="nl-NL" sz="1300" spc="-1" dirty="0">
                <a:solidFill>
                  <a:srgbClr val="4070A0"/>
                </a:solidFill>
                <a:latin typeface="Courier New"/>
              </a:rPr>
              <a:t>prisma</a:t>
            </a:r>
            <a:r>
              <a:rPr lang="nl-NL" sz="1300" b="0" strike="noStrike" spc="-1" dirty="0">
                <a:solidFill>
                  <a:srgbClr val="4070A0"/>
                </a:solidFill>
                <a:latin typeface="Courier New"/>
              </a:rPr>
              <a:t>'</a:t>
            </a:r>
            <a:r>
              <a:rPr lang="nl-NL" sz="1300" b="0" strike="noStrike" spc="-1" dirty="0">
                <a:solidFill>
                  <a:srgbClr val="666666"/>
                </a:solidFill>
                <a:latin typeface="Courier New"/>
              </a:rPr>
              <a:t>;</a:t>
            </a:r>
            <a:br>
              <a:rPr sz="1300" dirty="0"/>
            </a:br>
            <a:br>
              <a:rPr sz="1300" dirty="0"/>
            </a:br>
            <a:r>
              <a:rPr lang="nl-NL" sz="1300" b="1" strike="noStrike" spc="-1" dirty="0" err="1">
                <a:solidFill>
                  <a:srgbClr val="007020"/>
                </a:solidFill>
                <a:latin typeface="Courier New"/>
              </a:rPr>
              <a:t>async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nl-NL" sz="1300" b="1" strike="noStrike" spc="-1" dirty="0" err="1">
                <a:solidFill>
                  <a:srgbClr val="007020"/>
                </a:solidFill>
                <a:latin typeface="Courier New"/>
              </a:rPr>
              <a:t>function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nl-NL" sz="1300" b="0" strike="noStrike" spc="-1" dirty="0" err="1">
                <a:solidFill>
                  <a:srgbClr val="06287E"/>
                </a:solidFill>
                <a:latin typeface="Courier New"/>
              </a:rPr>
              <a:t>PokemonPage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() {</a:t>
            </a:r>
            <a:br>
              <a:rPr sz="1300" dirty="0"/>
            </a:b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nl-NL" sz="1300" b="1" strike="noStrike" spc="-1" dirty="0" err="1">
                <a:solidFill>
                  <a:srgbClr val="007020"/>
                </a:solidFill>
                <a:latin typeface="Courier New"/>
              </a:rPr>
              <a:t>const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Courier New"/>
              </a:rPr>
              <a:t>allPokemon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nl-NL" sz="1300" b="0" strike="noStrike" spc="-1" dirty="0">
                <a:solidFill>
                  <a:srgbClr val="666666"/>
                </a:solidFill>
                <a:latin typeface="Courier New"/>
              </a:rPr>
              <a:t>=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nl-NL" sz="1300" b="1" strike="noStrike" spc="-1" dirty="0" err="1">
                <a:solidFill>
                  <a:srgbClr val="007020"/>
                </a:solidFill>
                <a:latin typeface="Courier New"/>
              </a:rPr>
              <a:t>await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nl-NL" sz="1300" spc="-1" dirty="0" err="1">
                <a:solidFill>
                  <a:srgbClr val="000000"/>
                </a:solidFill>
                <a:latin typeface="Courier New"/>
              </a:rPr>
              <a:t>prisma</a:t>
            </a:r>
            <a:r>
              <a:rPr lang="nl-NL" sz="1300" b="0" strike="noStrike" spc="-1" dirty="0" err="1">
                <a:solidFill>
                  <a:srgbClr val="666666"/>
                </a:solidFill>
                <a:latin typeface="Courier New"/>
              </a:rPr>
              <a:t>.</a:t>
            </a:r>
            <a:r>
              <a:rPr lang="nl-NL" sz="1300" b="0" strike="noStrike" spc="-1" dirty="0" err="1">
                <a:solidFill>
                  <a:srgbClr val="7D9029"/>
                </a:solidFill>
                <a:latin typeface="Courier New"/>
              </a:rPr>
              <a:t>pokemon</a:t>
            </a:r>
            <a:r>
              <a:rPr lang="nl-NL" sz="1300" b="0" strike="noStrike" spc="-1" dirty="0" err="1">
                <a:solidFill>
                  <a:srgbClr val="666666"/>
                </a:solidFill>
                <a:latin typeface="Courier New"/>
              </a:rPr>
              <a:t>.</a:t>
            </a:r>
            <a:r>
              <a:rPr lang="nl-NL" sz="1300" b="0" strike="noStrike" spc="-1" dirty="0" err="1">
                <a:solidFill>
                  <a:srgbClr val="06287E"/>
                </a:solidFill>
                <a:latin typeface="Courier New"/>
              </a:rPr>
              <a:t>findMany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()</a:t>
            </a:r>
            <a:r>
              <a:rPr lang="nl-NL" sz="1300" b="0" strike="noStrike" spc="-1" dirty="0">
                <a:solidFill>
                  <a:srgbClr val="666666"/>
                </a:solidFill>
                <a:latin typeface="Courier New"/>
              </a:rPr>
              <a:t>;</a:t>
            </a:r>
            <a:br>
              <a:rPr sz="1300" dirty="0"/>
            </a:br>
            <a:br>
              <a:rPr sz="1300" dirty="0"/>
            </a:b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nl-NL" sz="1300" b="1" strike="noStrike" spc="-1" dirty="0">
                <a:solidFill>
                  <a:srgbClr val="007020"/>
                </a:solidFill>
                <a:latin typeface="Courier New"/>
              </a:rPr>
              <a:t>return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(</a:t>
            </a:r>
            <a:br>
              <a:rPr sz="1300" dirty="0"/>
            </a:b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   </a:t>
            </a:r>
            <a:r>
              <a:rPr lang="nl-NL" sz="1300" b="0" i="1" strike="noStrike" spc="-1" dirty="0">
                <a:solidFill>
                  <a:srgbClr val="60A0B0"/>
                </a:solidFill>
                <a:latin typeface="Courier New"/>
              </a:rPr>
              <a:t>// ... JSX om de </a:t>
            </a:r>
            <a:r>
              <a:rPr lang="nl-NL" sz="1300" b="0" i="1" strike="noStrike" spc="-1" dirty="0" err="1">
                <a:solidFill>
                  <a:srgbClr val="60A0B0"/>
                </a:solidFill>
                <a:latin typeface="Courier New"/>
              </a:rPr>
              <a:t>pokemon</a:t>
            </a:r>
            <a:r>
              <a:rPr lang="nl-NL" sz="1300" b="0" i="1" strike="noStrike" spc="-1" dirty="0">
                <a:solidFill>
                  <a:srgbClr val="60A0B0"/>
                </a:solidFill>
                <a:latin typeface="Courier New"/>
              </a:rPr>
              <a:t> te tonen</a:t>
            </a:r>
            <a:br>
              <a:rPr sz="1300" dirty="0"/>
            </a:b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 )</a:t>
            </a:r>
            <a:r>
              <a:rPr lang="nl-NL" sz="1300" b="0" strike="noStrike" spc="-1" dirty="0">
                <a:solidFill>
                  <a:srgbClr val="666666"/>
                </a:solidFill>
                <a:latin typeface="Courier New"/>
              </a:rPr>
              <a:t>;</a:t>
            </a:r>
            <a:br>
              <a:rPr sz="1300" dirty="0"/>
            </a:b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}</a:t>
            </a:r>
            <a:endParaRPr lang="nl-NL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dt" idx="11"/>
          </p:nvPr>
        </p:nvSpPr>
        <p:spPr>
          <a:xfrm>
            <a:off x="504000" y="4739808"/>
            <a:ext cx="143964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defRPr lang="nl-NL" sz="9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nl-NL" sz="900" b="0" strike="noStrike" spc="-1" dirty="0">
                <a:solidFill>
                  <a:srgbClr val="000000"/>
                </a:solidFill>
                <a:latin typeface="Arial"/>
              </a:rPr>
              <a:t>2025-10-27</a:t>
            </a:r>
            <a:endParaRPr lang="en-US" sz="9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sldNum" idx="12"/>
          </p:nvPr>
        </p:nvSpPr>
        <p:spPr>
          <a:xfrm>
            <a:off x="8424000" y="4590000"/>
            <a:ext cx="467640" cy="179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nl-NL" sz="1200" b="0" strike="noStrike" spc="-1">
                <a:solidFill>
                  <a:srgbClr val="787878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D4DA4D3-1076-4C56-B3F2-3D59871C5B60}" type="slidenum">
              <a:rPr lang="nl-NL" sz="1200" b="0" strike="noStrike" spc="-1">
                <a:solidFill>
                  <a:srgbClr val="787878"/>
                </a:solidFill>
                <a:latin typeface="Arial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95000"/>
              </a:lnSpc>
              <a:buNone/>
              <a:tabLst>
                <a:tab pos="0" algn="l"/>
              </a:tabLst>
            </a:pPr>
            <a:r>
              <a:rPr lang="nl-NL" sz="3000" b="1" strike="noStrike" spc="-1">
                <a:solidFill>
                  <a:srgbClr val="FFFFFF"/>
                </a:solidFill>
                <a:latin typeface="Arial"/>
              </a:rPr>
              <a:t>Prisma ORM: De Basis</a:t>
            </a:r>
            <a:endParaRPr lang="nl-NL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391560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Prisma is een Object-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Arial"/>
              </a:rPr>
              <a:t>Relational</a:t>
            </a: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Arial"/>
              </a:rPr>
              <a:t>Mapper</a:t>
            </a: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 (ORM) voor 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Arial"/>
              </a:rPr>
              <a:t>Node.js</a:t>
            </a: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 en 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Arial"/>
              </a:rPr>
              <a:t>TypeScript</a:t>
            </a: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. </a:t>
            </a:r>
          </a:p>
          <a:p>
            <a:pPr marL="514350" indent="-285750">
              <a:lnSpc>
                <a:spcPct val="100000"/>
              </a:lnSpc>
              <a:buFontTx/>
              <a:buChar char="-"/>
              <a:tabLst>
                <a:tab pos="0" algn="l"/>
              </a:tabLst>
            </a:pP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Het verbindt je applicatie met de database. </a:t>
            </a:r>
          </a:p>
          <a:p>
            <a:pPr marL="514350" indent="-285750">
              <a:lnSpc>
                <a:spcPct val="100000"/>
              </a:lnSpc>
              <a:buFontTx/>
              <a:buChar char="-"/>
              <a:tabLst>
                <a:tab pos="0" algn="l"/>
              </a:tabLst>
            </a:pP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Het 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prisma/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Courier New"/>
              </a:rPr>
              <a:t>schema.prisma</a:t>
            </a: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 bestand is de “single source of 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Arial"/>
              </a:rPr>
              <a:t>truth</a:t>
            </a: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” voor je databasestructuur. </a:t>
            </a:r>
            <a:endParaRPr lang="nl-NL" sz="1300" spc="-1" dirty="0">
              <a:solidFill>
                <a:srgbClr val="000000"/>
              </a:solidFill>
              <a:latin typeface="Arial"/>
            </a:endParaRPr>
          </a:p>
          <a:p>
            <a:pPr marL="514350" indent="-285750">
              <a:lnSpc>
                <a:spcPct val="100000"/>
              </a:lnSpc>
              <a:buFontTx/>
              <a:buChar char="-"/>
              <a:tabLst>
                <a:tab pos="0" algn="l"/>
              </a:tabLst>
            </a:pP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Het genereert een type-safe Prisma Client om 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Arial"/>
              </a:rPr>
              <a:t>queries</a:t>
            </a: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 te schrijven.</a:t>
            </a:r>
          </a:p>
        </p:txBody>
      </p:sp>
      <p:sp>
        <p:nvSpPr>
          <p:cNvPr id="107" name="PlaceHolder 4"/>
          <p:cNvSpPr>
            <a:spLocks noGrp="1"/>
          </p:cNvSpPr>
          <p:nvPr>
            <p:ph type="sldNum" idx="14"/>
          </p:nvPr>
        </p:nvSpPr>
        <p:spPr>
          <a:xfrm>
            <a:off x="8424000" y="4590000"/>
            <a:ext cx="467640" cy="179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nl-NL" sz="1200" b="0" strike="noStrike" spc="-1">
                <a:solidFill>
                  <a:srgbClr val="787878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2478331-B755-444F-B2D5-D5EF3F48C333}" type="slidenum">
              <a:rPr lang="nl-NL" sz="1200" b="0" strike="noStrike" spc="-1">
                <a:solidFill>
                  <a:srgbClr val="787878"/>
                </a:solidFill>
                <a:latin typeface="Arial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AF0EE814-2FBC-9002-4F2C-832653F8958E}"/>
              </a:ext>
            </a:extLst>
          </p:cNvPr>
          <p:cNvSpPr txBox="1">
            <a:spLocks/>
          </p:cNvSpPr>
          <p:nvPr/>
        </p:nvSpPr>
        <p:spPr>
          <a:xfrm>
            <a:off x="4724040" y="1566000"/>
            <a:ext cx="391560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ts val="1800"/>
              </a:lnSpc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nl-NL" sz="1300" spc="-1" dirty="0">
                <a:solidFill>
                  <a:srgbClr val="000000"/>
                </a:solidFill>
                <a:latin typeface="Courier New"/>
              </a:rPr>
              <a:t>// prisma/</a:t>
            </a:r>
            <a:r>
              <a:rPr lang="nl-NL" sz="1300" spc="-1" dirty="0" err="1">
                <a:solidFill>
                  <a:srgbClr val="000000"/>
                </a:solidFill>
                <a:latin typeface="Courier New"/>
              </a:rPr>
              <a:t>schema.prisma</a:t>
            </a:r>
            <a:endParaRPr lang="nl-NL" sz="1300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nl-NL" sz="1300" spc="-1" dirty="0">
                <a:solidFill>
                  <a:srgbClr val="000000"/>
                </a:solidFill>
                <a:latin typeface="Courier New"/>
              </a:rPr>
              <a:t>model </a:t>
            </a:r>
            <a:r>
              <a:rPr lang="nl-NL" sz="1300" spc="-1" dirty="0" err="1">
                <a:solidFill>
                  <a:srgbClr val="000000"/>
                </a:solidFill>
                <a:latin typeface="Courier New"/>
              </a:rPr>
              <a:t>Pokemon</a:t>
            </a:r>
            <a:r>
              <a:rPr lang="nl-NL" sz="1300" spc="-1" dirty="0">
                <a:solidFill>
                  <a:srgbClr val="000000"/>
                </a:solidFill>
                <a:latin typeface="Courier New"/>
              </a:rPr>
              <a:t> {</a:t>
            </a:r>
            <a:endParaRPr lang="nl-NL" sz="1300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nl-NL" sz="1300" spc="-1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nl-NL" sz="1300" spc="-1" dirty="0" err="1">
                <a:solidFill>
                  <a:srgbClr val="000000"/>
                </a:solidFill>
                <a:latin typeface="Courier New"/>
              </a:rPr>
              <a:t>id</a:t>
            </a:r>
            <a:r>
              <a:rPr lang="nl-NL" sz="1300" spc="-1" dirty="0">
                <a:solidFill>
                  <a:srgbClr val="000000"/>
                </a:solidFill>
                <a:latin typeface="Courier New"/>
              </a:rPr>
              <a:t>        Int   @id @default(autoincrement())</a:t>
            </a:r>
            <a:endParaRPr lang="nl-NL" sz="1300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nl-NL" sz="1300" spc="-1" dirty="0">
                <a:solidFill>
                  <a:srgbClr val="000000"/>
                </a:solidFill>
                <a:latin typeface="Courier New"/>
              </a:rPr>
              <a:t>  name     String</a:t>
            </a:r>
            <a:endParaRPr lang="nl-NL" sz="1300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nl-NL" sz="1300" spc="-1" dirty="0">
                <a:solidFill>
                  <a:srgbClr val="000000"/>
                </a:solidFill>
                <a:latin typeface="Courier New"/>
              </a:rPr>
              <a:t>  type   String</a:t>
            </a:r>
            <a:endParaRPr lang="nl-NL" sz="1300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300" spc="-1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nl-NL" sz="1300" spc="-1" dirty="0" err="1">
                <a:solidFill>
                  <a:srgbClr val="000000"/>
                </a:solidFill>
                <a:latin typeface="Courier New"/>
              </a:rPr>
              <a:t>img</a:t>
            </a:r>
            <a:r>
              <a:rPr lang="nl-NL" sz="1300" spc="-1" dirty="0">
                <a:solidFill>
                  <a:srgbClr val="000000"/>
                </a:solidFill>
                <a:latin typeface="Courier New"/>
              </a:rPr>
              <a:t>   String</a:t>
            </a:r>
            <a:endParaRPr lang="nl-NL" sz="1300" spc="-1" dirty="0">
              <a:solidFill>
                <a:srgbClr val="000000"/>
              </a:solidFill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1300" spc="-1" dirty="0" err="1">
                <a:solidFill>
                  <a:srgbClr val="000000"/>
                </a:solidFill>
                <a:latin typeface="Arial"/>
              </a:rPr>
              <a:t>Etc</a:t>
            </a:r>
            <a:r>
              <a:rPr lang="nl-NL" sz="1300" spc="-1" dirty="0">
                <a:solidFill>
                  <a:srgbClr val="000000"/>
                </a:solidFill>
                <a:latin typeface="Arial"/>
              </a:rPr>
              <a:t>……</a:t>
            </a:r>
          </a:p>
          <a:p>
            <a:pPr marL="180000" indent="0">
              <a:lnSpc>
                <a:spcPct val="100000"/>
              </a:lnSpc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nl-NL" sz="1300" spc="-1" dirty="0">
                <a:solidFill>
                  <a:srgbClr val="000000"/>
                </a:solidFill>
                <a:latin typeface="Courier New"/>
              </a:rPr>
              <a:t>}</a:t>
            </a:r>
            <a:endParaRPr lang="nl-NL" sz="1300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95000"/>
              </a:lnSpc>
              <a:buNone/>
              <a:tabLst>
                <a:tab pos="0" algn="l"/>
              </a:tabLst>
            </a:pPr>
            <a:r>
              <a:rPr lang="nl-NL" sz="3000" b="1" strike="noStrike" spc="-1">
                <a:solidFill>
                  <a:srgbClr val="FFFFFF"/>
                </a:solidFill>
                <a:latin typeface="Arial"/>
              </a:rPr>
              <a:t>Database Seeding</a:t>
            </a:r>
            <a:endParaRPr lang="nl-NL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813564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ts val="1800"/>
              </a:lnSpc>
              <a:buNone/>
              <a:tabLst>
                <a:tab pos="0" algn="l"/>
              </a:tabLst>
            </a:pPr>
            <a:r>
              <a:rPr lang="nl-NL" sz="1300" b="0" strike="noStrike" spc="-1" dirty="0" err="1">
                <a:solidFill>
                  <a:srgbClr val="000000"/>
                </a:solidFill>
                <a:latin typeface="Arial"/>
              </a:rPr>
              <a:t>Seeding</a:t>
            </a: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 is het vullen van je database met initiële (test)data.</a:t>
            </a:r>
          </a:p>
          <a:p>
            <a:pPr marL="514350" indent="-285750">
              <a:lnSpc>
                <a:spcPts val="1800"/>
              </a:lnSpc>
              <a:buFontTx/>
              <a:buChar char="-"/>
              <a:tabLst>
                <a:tab pos="0" algn="l"/>
              </a:tabLst>
            </a:pP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Essentieel voor een consistente ontwikkelomgeving. </a:t>
            </a:r>
          </a:p>
          <a:p>
            <a:pPr marL="514350" indent="-285750">
              <a:lnSpc>
                <a:spcPts val="1800"/>
              </a:lnSpc>
              <a:buFontTx/>
              <a:buChar char="-"/>
              <a:tabLst>
                <a:tab pos="0" algn="l"/>
              </a:tabLst>
            </a:pP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In ons project is een 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Arial"/>
              </a:rPr>
              <a:t>seed</a:t>
            </a: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-script geconfigureerd.</a:t>
            </a:r>
          </a:p>
          <a:p>
            <a:pPr indent="0">
              <a:lnSpc>
                <a:spcPts val="1800"/>
              </a:lnSpc>
              <a:buNone/>
              <a:tabLst>
                <a:tab pos="0" algn="l"/>
              </a:tabLst>
            </a:pP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Voer het script uit met: 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Courier New"/>
              </a:rPr>
              <a:t>npm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run 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Courier New"/>
              </a:rPr>
              <a:t>db:seed</a:t>
            </a:r>
            <a:endParaRPr lang="nl-NL" sz="13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ts val="1800"/>
              </a:lnSpc>
              <a:buNone/>
              <a:tabLst>
                <a:tab pos="0" algn="l"/>
              </a:tabLst>
            </a:pP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Dit commando wist de database en vult deze met de data uit 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prisma/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Courier New"/>
              </a:rPr>
              <a:t>seed.ts</a:t>
            </a: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14" name="PlaceHolder 3"/>
          <p:cNvSpPr>
            <a:spLocks noGrp="1"/>
          </p:cNvSpPr>
          <p:nvPr>
            <p:ph type="dt" idx="17"/>
          </p:nvPr>
        </p:nvSpPr>
        <p:spPr>
          <a:xfrm>
            <a:off x="504000" y="4590000"/>
            <a:ext cx="143964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defRPr lang="nl-NL" sz="9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nl-NL" sz="900" b="0" strike="noStrike" spc="-1">
                <a:solidFill>
                  <a:srgbClr val="000000"/>
                </a:solidFill>
                <a:latin typeface="Arial"/>
              </a:rPr>
              <a:t>2025-10-27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sldNum" idx="18"/>
          </p:nvPr>
        </p:nvSpPr>
        <p:spPr>
          <a:xfrm>
            <a:off x="8424000" y="4590000"/>
            <a:ext cx="467640" cy="179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nl-NL" sz="1200" b="0" strike="noStrike" spc="-1">
                <a:solidFill>
                  <a:srgbClr val="787878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ED1A957-C50D-4BC0-9644-4426CF4F4B04}" type="slidenum">
              <a:rPr lang="nl-NL" sz="1200" b="0" strike="noStrike" spc="-1">
                <a:solidFill>
                  <a:srgbClr val="787878"/>
                </a:solidFill>
                <a:latin typeface="Arial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95000"/>
              </a:lnSpc>
              <a:buNone/>
              <a:tabLst>
                <a:tab pos="0" algn="l"/>
              </a:tabLst>
            </a:pPr>
            <a:r>
              <a:rPr lang="nl-NL" sz="3000" b="1" strike="noStrike" spc="-1">
                <a:solidFill>
                  <a:srgbClr val="FFFFFF"/>
                </a:solidFill>
                <a:latin typeface="Arial"/>
              </a:rPr>
              <a:t>Prisma Client &amp; Scripts</a:t>
            </a:r>
            <a:endParaRPr lang="nl-NL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813564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ts val="1800"/>
              </a:lnSpc>
              <a:buNone/>
              <a:tabLst>
                <a:tab pos="0" algn="l"/>
              </a:tabLst>
            </a:pP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Na het definiëren van je schema, genereer je de client: </a:t>
            </a:r>
            <a:r>
              <a:rPr lang="nl-NL" sz="1300" strike="noStrike" spc="-1" dirty="0" err="1">
                <a:solidFill>
                  <a:srgbClr val="000000"/>
                </a:solidFill>
                <a:latin typeface="Courier New"/>
              </a:rPr>
              <a:t>npm</a:t>
            </a:r>
            <a:r>
              <a:rPr lang="nl-NL" sz="1300" strike="noStrike" spc="-1" dirty="0">
                <a:solidFill>
                  <a:srgbClr val="000000"/>
                </a:solidFill>
                <a:latin typeface="Courier New"/>
              </a:rPr>
              <a:t> run </a:t>
            </a:r>
            <a:r>
              <a:rPr lang="nl-NL" sz="1300" strike="noStrike" spc="-1" dirty="0" err="1">
                <a:solidFill>
                  <a:srgbClr val="000000"/>
                </a:solidFill>
                <a:latin typeface="Courier New"/>
              </a:rPr>
              <a:t>db:generate</a:t>
            </a:r>
            <a:endParaRPr lang="nl-NL" sz="130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ts val="1800"/>
              </a:lnSpc>
              <a:buNone/>
              <a:tabLst>
                <a:tab pos="0" algn="l"/>
              </a:tabLst>
            </a:pPr>
            <a:r>
              <a:rPr lang="nl-NL" sz="1300" b="0" strike="noStrike" spc="-1" dirty="0">
                <a:solidFill>
                  <a:srgbClr val="000000"/>
                </a:solidFill>
                <a:latin typeface="Arial"/>
              </a:rPr>
              <a:t>De client gebruik je om met de database te praten.</a:t>
            </a:r>
          </a:p>
          <a:p>
            <a:pPr marL="180000" indent="0">
              <a:lnSpc>
                <a:spcPts val="1800"/>
              </a:lnSpc>
              <a:buNone/>
              <a:tabLst>
                <a:tab pos="0" algn="l"/>
              </a:tabLst>
            </a:pPr>
            <a:r>
              <a:rPr lang="nl-NL" sz="1300" b="0" i="1" strike="noStrike" spc="-1" dirty="0">
                <a:solidFill>
                  <a:srgbClr val="60A0B0"/>
                </a:solidFill>
                <a:latin typeface="Courier New"/>
              </a:rPr>
              <a:t>// Voorbeeld van Prisma Client gebruik</a:t>
            </a:r>
            <a:br>
              <a:rPr sz="1300" dirty="0"/>
            </a:br>
            <a:r>
              <a:rPr lang="nl-NL" sz="1300" b="1" strike="noStrike" spc="-1" dirty="0">
                <a:solidFill>
                  <a:srgbClr val="008000"/>
                </a:solidFill>
                <a:latin typeface="Courier New"/>
              </a:rPr>
              <a:t>import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{ </a:t>
            </a:r>
            <a:r>
              <a:rPr lang="nl-NL" sz="1300" spc="-1" dirty="0">
                <a:solidFill>
                  <a:srgbClr val="000000"/>
                </a:solidFill>
                <a:latin typeface="Courier New"/>
              </a:rPr>
              <a:t>prisma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} </a:t>
            </a:r>
            <a:r>
              <a:rPr lang="nl-NL" sz="1300" b="1" strike="noStrike" spc="-1" dirty="0" err="1">
                <a:solidFill>
                  <a:srgbClr val="008000"/>
                </a:solidFill>
                <a:latin typeface="Courier New"/>
              </a:rPr>
              <a:t>from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nl-NL" sz="1300" b="0" strike="noStrike" spc="-1" dirty="0">
                <a:solidFill>
                  <a:srgbClr val="4070A0"/>
                </a:solidFill>
                <a:latin typeface="Courier New"/>
              </a:rPr>
              <a:t>‘@/</a:t>
            </a:r>
            <a:r>
              <a:rPr lang="nl-NL" sz="1300" b="0" strike="noStrike" spc="-1" dirty="0" err="1">
                <a:solidFill>
                  <a:srgbClr val="4070A0"/>
                </a:solidFill>
                <a:latin typeface="Courier New"/>
              </a:rPr>
              <a:t>lib</a:t>
            </a:r>
            <a:r>
              <a:rPr lang="nl-NL" sz="1300" b="0" strike="noStrike" spc="-1" dirty="0">
                <a:solidFill>
                  <a:srgbClr val="4070A0"/>
                </a:solidFill>
                <a:latin typeface="Courier New"/>
              </a:rPr>
              <a:t>/prisma'</a:t>
            </a:r>
            <a:r>
              <a:rPr lang="nl-NL" sz="1300" b="0" strike="noStrike" spc="-1" dirty="0">
                <a:solidFill>
                  <a:srgbClr val="666666"/>
                </a:solidFill>
                <a:latin typeface="Courier New"/>
              </a:rPr>
              <a:t>;</a:t>
            </a:r>
            <a:br>
              <a:rPr sz="1300" dirty="0"/>
            </a:br>
            <a:br>
              <a:rPr sz="1300" dirty="0"/>
            </a:br>
            <a:r>
              <a:rPr lang="nl-NL" sz="1300" b="0" i="1" strike="noStrike" spc="-1" dirty="0">
                <a:solidFill>
                  <a:srgbClr val="60A0B0"/>
                </a:solidFill>
                <a:latin typeface="Courier New"/>
              </a:rPr>
              <a:t>// Alle </a:t>
            </a:r>
            <a:r>
              <a:rPr lang="nl-NL" sz="1300" b="0" i="1" strike="noStrike" spc="-1" dirty="0" err="1">
                <a:solidFill>
                  <a:srgbClr val="60A0B0"/>
                </a:solidFill>
                <a:latin typeface="Courier New"/>
              </a:rPr>
              <a:t>pokemon</a:t>
            </a:r>
            <a:r>
              <a:rPr lang="nl-NL" sz="1300" b="0" i="1" strike="noStrike" spc="-1" dirty="0">
                <a:solidFill>
                  <a:srgbClr val="60A0B0"/>
                </a:solidFill>
                <a:latin typeface="Courier New"/>
              </a:rPr>
              <a:t> vinden</a:t>
            </a:r>
            <a:br>
              <a:rPr sz="1300" dirty="0"/>
            </a:br>
            <a:r>
              <a:rPr lang="nl-NL" sz="1300" b="1" strike="noStrike" spc="-1" dirty="0" err="1">
                <a:solidFill>
                  <a:srgbClr val="007020"/>
                </a:solidFill>
                <a:latin typeface="Courier New"/>
              </a:rPr>
              <a:t>const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Courier New"/>
              </a:rPr>
              <a:t>allPokemon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nl-NL" sz="1300" b="0" strike="noStrike" spc="-1" dirty="0">
                <a:solidFill>
                  <a:srgbClr val="666666"/>
                </a:solidFill>
                <a:latin typeface="Courier New"/>
              </a:rPr>
              <a:t>=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nl-NL" sz="1300" b="1" strike="noStrike" spc="-1" dirty="0" err="1">
                <a:solidFill>
                  <a:srgbClr val="007020"/>
                </a:solidFill>
                <a:latin typeface="Courier New"/>
              </a:rPr>
              <a:t>await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nl-NL" sz="1300" spc="-1" dirty="0" err="1">
                <a:solidFill>
                  <a:srgbClr val="000000"/>
                </a:solidFill>
                <a:latin typeface="Courier New"/>
              </a:rPr>
              <a:t>prisma</a:t>
            </a:r>
            <a:r>
              <a:rPr lang="nl-NL" sz="1300" b="0" strike="noStrike" spc="-1" dirty="0" err="1">
                <a:solidFill>
                  <a:srgbClr val="666666"/>
                </a:solidFill>
                <a:latin typeface="Courier New"/>
              </a:rPr>
              <a:t>.</a:t>
            </a:r>
            <a:r>
              <a:rPr lang="nl-NL" sz="1300" b="0" strike="noStrike" spc="-1" dirty="0" err="1">
                <a:solidFill>
                  <a:srgbClr val="7D9029"/>
                </a:solidFill>
                <a:latin typeface="Courier New"/>
              </a:rPr>
              <a:t>pokemon</a:t>
            </a:r>
            <a:r>
              <a:rPr lang="nl-NL" sz="1300" b="0" strike="noStrike" spc="-1" dirty="0" err="1">
                <a:solidFill>
                  <a:srgbClr val="666666"/>
                </a:solidFill>
                <a:latin typeface="Courier New"/>
              </a:rPr>
              <a:t>.</a:t>
            </a:r>
            <a:r>
              <a:rPr lang="nl-NL" sz="1300" b="0" strike="noStrike" spc="-1" dirty="0" err="1">
                <a:solidFill>
                  <a:srgbClr val="06287E"/>
                </a:solidFill>
                <a:latin typeface="Courier New"/>
              </a:rPr>
              <a:t>findMany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()</a:t>
            </a:r>
            <a:r>
              <a:rPr lang="nl-NL" sz="1300" b="0" strike="noStrike" spc="-1" dirty="0">
                <a:solidFill>
                  <a:srgbClr val="666666"/>
                </a:solidFill>
                <a:latin typeface="Courier New"/>
              </a:rPr>
              <a:t>;</a:t>
            </a:r>
            <a:br>
              <a:rPr sz="1300" dirty="0"/>
            </a:br>
            <a:br>
              <a:rPr sz="1300" dirty="0"/>
            </a:br>
            <a:r>
              <a:rPr lang="nl-NL" sz="1300" b="0" i="1" strike="noStrike" spc="-1" dirty="0">
                <a:solidFill>
                  <a:srgbClr val="60A0B0"/>
                </a:solidFill>
                <a:latin typeface="Courier New"/>
              </a:rPr>
              <a:t>// Een specifieke </a:t>
            </a:r>
            <a:r>
              <a:rPr lang="nl-NL" sz="1300" b="0" i="1" strike="noStrike" spc="-1" dirty="0" err="1">
                <a:solidFill>
                  <a:srgbClr val="60A0B0"/>
                </a:solidFill>
                <a:latin typeface="Courier New"/>
              </a:rPr>
              <a:t>pokemon</a:t>
            </a:r>
            <a:r>
              <a:rPr lang="nl-NL" sz="1300" b="0" i="1" strike="noStrike" spc="-1" dirty="0">
                <a:solidFill>
                  <a:srgbClr val="60A0B0"/>
                </a:solidFill>
                <a:latin typeface="Courier New"/>
              </a:rPr>
              <a:t> vinden</a:t>
            </a:r>
            <a:br>
              <a:rPr sz="1300" dirty="0"/>
            </a:br>
            <a:r>
              <a:rPr lang="nl-NL" sz="1300" b="1" strike="noStrike" spc="-1" dirty="0" err="1">
                <a:solidFill>
                  <a:srgbClr val="007020"/>
                </a:solidFill>
                <a:latin typeface="Courier New"/>
              </a:rPr>
              <a:t>const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Courier New"/>
              </a:rPr>
              <a:t>pokemon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nl-NL" sz="1300" b="0" strike="noStrike" spc="-1" dirty="0">
                <a:solidFill>
                  <a:srgbClr val="666666"/>
                </a:solidFill>
                <a:latin typeface="Courier New"/>
              </a:rPr>
              <a:t>=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nl-NL" sz="1300" b="1" strike="noStrike" spc="-1" dirty="0" err="1">
                <a:solidFill>
                  <a:srgbClr val="007020"/>
                </a:solidFill>
                <a:latin typeface="Courier New"/>
              </a:rPr>
              <a:t>await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nl-NL" sz="1300" spc="-1" dirty="0" err="1">
                <a:solidFill>
                  <a:srgbClr val="000000"/>
                </a:solidFill>
                <a:latin typeface="Courier New"/>
              </a:rPr>
              <a:t>prisma</a:t>
            </a:r>
            <a:r>
              <a:rPr lang="nl-NL" sz="1300" b="0" strike="noStrike" spc="-1" dirty="0" err="1">
                <a:solidFill>
                  <a:srgbClr val="666666"/>
                </a:solidFill>
                <a:latin typeface="Courier New"/>
              </a:rPr>
              <a:t>.</a:t>
            </a:r>
            <a:r>
              <a:rPr lang="nl-NL" sz="1300" b="0" strike="noStrike" spc="-1" dirty="0" err="1">
                <a:solidFill>
                  <a:srgbClr val="7D9029"/>
                </a:solidFill>
                <a:latin typeface="Courier New"/>
              </a:rPr>
              <a:t>pokemon</a:t>
            </a:r>
            <a:r>
              <a:rPr lang="nl-NL" sz="1300" b="0" strike="noStrike" spc="-1" dirty="0" err="1">
                <a:solidFill>
                  <a:srgbClr val="666666"/>
                </a:solidFill>
                <a:latin typeface="Courier New"/>
              </a:rPr>
              <a:t>.</a:t>
            </a:r>
            <a:r>
              <a:rPr lang="nl-NL" sz="1300" b="0" strike="noStrike" spc="-1" dirty="0" err="1">
                <a:solidFill>
                  <a:srgbClr val="06287E"/>
                </a:solidFill>
                <a:latin typeface="Courier New"/>
              </a:rPr>
              <a:t>findUnique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({ 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Courier New"/>
              </a:rPr>
              <a:t>where</a:t>
            </a:r>
            <a:r>
              <a:rPr lang="nl-NL" sz="1300" b="0" strike="noStrike" spc="-1" dirty="0">
                <a:solidFill>
                  <a:srgbClr val="666666"/>
                </a:solidFill>
                <a:latin typeface="Courier New"/>
              </a:rPr>
              <a:t>: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{ </a:t>
            </a:r>
            <a:r>
              <a:rPr lang="nl-NL" sz="1300" b="0" strike="noStrike" spc="-1" dirty="0" err="1">
                <a:solidFill>
                  <a:srgbClr val="000000"/>
                </a:solidFill>
                <a:latin typeface="Courier New"/>
              </a:rPr>
              <a:t>id</a:t>
            </a:r>
            <a:r>
              <a:rPr lang="nl-NL" sz="1300" b="0" strike="noStrike" spc="-1" dirty="0">
                <a:solidFill>
                  <a:srgbClr val="666666"/>
                </a:solidFill>
                <a:latin typeface="Courier New"/>
              </a:rPr>
              <a:t>: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nl-NL" sz="1300" b="0" strike="noStrike" spc="-1" dirty="0">
                <a:solidFill>
                  <a:srgbClr val="4070A0"/>
                </a:solidFill>
                <a:latin typeface="Courier New"/>
              </a:rPr>
              <a:t>'...'</a:t>
            </a:r>
            <a:r>
              <a:rPr lang="nl-NL" sz="1300" b="0" strike="noStrike" spc="-1" dirty="0">
                <a:solidFill>
                  <a:srgbClr val="000000"/>
                </a:solidFill>
                <a:latin typeface="Courier New"/>
              </a:rPr>
              <a:t> } })</a:t>
            </a:r>
            <a:r>
              <a:rPr lang="nl-NL" sz="1300" b="0" strike="noStrike" spc="-1" dirty="0">
                <a:solidFill>
                  <a:srgbClr val="666666"/>
                </a:solidFill>
                <a:latin typeface="Courier New"/>
              </a:rPr>
              <a:t>;</a:t>
            </a:r>
            <a:endParaRPr lang="nl-NL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dt" idx="15"/>
          </p:nvPr>
        </p:nvSpPr>
        <p:spPr>
          <a:xfrm>
            <a:off x="504000" y="4590000"/>
            <a:ext cx="143964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defRPr lang="nl-NL" sz="9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nl-NL" sz="900" b="0" strike="noStrike" spc="-1">
                <a:solidFill>
                  <a:srgbClr val="000000"/>
                </a:solidFill>
                <a:latin typeface="Arial"/>
              </a:rPr>
              <a:t>2025-10-27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sldNum" idx="16"/>
          </p:nvPr>
        </p:nvSpPr>
        <p:spPr>
          <a:xfrm>
            <a:off x="8424000" y="4590000"/>
            <a:ext cx="467640" cy="179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nl-NL" sz="1200" b="0" strike="noStrike" spc="-1">
                <a:solidFill>
                  <a:srgbClr val="787878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E4A526F-89FC-4B79-83A8-F387FECBA45E}" type="slidenum">
              <a:rPr lang="nl-NL" sz="1200" b="0" strike="noStrike" spc="-1">
                <a:solidFill>
                  <a:srgbClr val="787878"/>
                </a:solidFill>
                <a:latin typeface="Arial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E86EC-F41A-AE0F-C46B-8441EFB1E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>
            <a:extLst>
              <a:ext uri="{FF2B5EF4-FFF2-40B4-BE49-F238E27FC236}">
                <a16:creationId xmlns:a16="http://schemas.microsoft.com/office/drawing/2014/main" id="{1E8DD876-35E2-40BD-956E-9CBA0D972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95000"/>
              </a:lnSpc>
              <a:buNone/>
              <a:tabLst>
                <a:tab pos="0" algn="l"/>
              </a:tabLst>
            </a:pPr>
            <a:r>
              <a:rPr lang="nl-NL" sz="3000" b="1" spc="-1" dirty="0">
                <a:solidFill>
                  <a:srgbClr val="FFFFFF"/>
                </a:solidFill>
                <a:latin typeface="Arial"/>
              </a:rPr>
              <a:t>Data weergeven op je pagina</a:t>
            </a:r>
            <a:endParaRPr lang="nl-NL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>
            <a:extLst>
              <a:ext uri="{FF2B5EF4-FFF2-40B4-BE49-F238E27FC236}">
                <a16:creationId xmlns:a16="http://schemas.microsoft.com/office/drawing/2014/main" id="{289828DC-7B8B-4651-A50B-CB7BDED17E34}"/>
              </a:ext>
            </a:extLst>
          </p:cNvPr>
          <p:cNvSpPr>
            <a:spLocks noGrp="1"/>
          </p:cNvSpPr>
          <p:nvPr>
            <p:ph type="dt" idx="15"/>
          </p:nvPr>
        </p:nvSpPr>
        <p:spPr>
          <a:xfrm>
            <a:off x="504000" y="4590000"/>
            <a:ext cx="143964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defRPr lang="nl-NL" sz="9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nl-NL" sz="900" b="0" strike="noStrike" spc="-1">
                <a:solidFill>
                  <a:srgbClr val="000000"/>
                </a:solidFill>
                <a:latin typeface="Arial"/>
              </a:rPr>
              <a:t>2025-10-27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4">
            <a:extLst>
              <a:ext uri="{FF2B5EF4-FFF2-40B4-BE49-F238E27FC236}">
                <a16:creationId xmlns:a16="http://schemas.microsoft.com/office/drawing/2014/main" id="{C44750F8-A687-E00B-B594-0552681B4DD1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8424000" y="4590000"/>
            <a:ext cx="467640" cy="179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nl-NL" sz="1200" b="0" strike="noStrike" spc="-1">
                <a:solidFill>
                  <a:srgbClr val="787878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E4A526F-89FC-4B79-83A8-F387FECBA45E}" type="slidenum">
              <a:rPr lang="nl-NL" sz="1200" b="0" strike="noStrike" spc="-1">
                <a:solidFill>
                  <a:srgbClr val="787878"/>
                </a:solidFill>
                <a:latin typeface="Arial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E6B94407-4032-1F36-A389-897378052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861399"/>
            <a:ext cx="3777341" cy="3728601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6B938814-4283-A167-80D6-F6C447E09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331" y="1349407"/>
            <a:ext cx="1654190" cy="301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674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10DBE-38C9-7E24-7349-02BC97748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>
            <a:extLst>
              <a:ext uri="{FF2B5EF4-FFF2-40B4-BE49-F238E27FC236}">
                <a16:creationId xmlns:a16="http://schemas.microsoft.com/office/drawing/2014/main" id="{399E2702-F31F-F79B-9185-F53D04D5A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95000"/>
              </a:lnSpc>
              <a:buNone/>
              <a:tabLst>
                <a:tab pos="0" algn="l"/>
              </a:tabLst>
            </a:pPr>
            <a:r>
              <a:rPr lang="nl-NL" sz="3000" b="1" spc="-1" dirty="0">
                <a:solidFill>
                  <a:srgbClr val="FFFFFF"/>
                </a:solidFill>
                <a:latin typeface="Arial"/>
              </a:rPr>
              <a:t>Data weergeven op je pagina (mooier)</a:t>
            </a:r>
            <a:endParaRPr lang="nl-NL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>
            <a:extLst>
              <a:ext uri="{FF2B5EF4-FFF2-40B4-BE49-F238E27FC236}">
                <a16:creationId xmlns:a16="http://schemas.microsoft.com/office/drawing/2014/main" id="{5449878B-A166-588F-FE08-8CE31CD8ED22}"/>
              </a:ext>
            </a:extLst>
          </p:cNvPr>
          <p:cNvSpPr>
            <a:spLocks noGrp="1"/>
          </p:cNvSpPr>
          <p:nvPr>
            <p:ph type="dt" idx="15"/>
          </p:nvPr>
        </p:nvSpPr>
        <p:spPr>
          <a:xfrm>
            <a:off x="504000" y="4590000"/>
            <a:ext cx="143964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defRPr lang="nl-NL" sz="9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nl-NL" sz="900" b="0" strike="noStrike" spc="-1">
                <a:solidFill>
                  <a:srgbClr val="000000"/>
                </a:solidFill>
                <a:latin typeface="Arial"/>
              </a:rPr>
              <a:t>2025-10-27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4">
            <a:extLst>
              <a:ext uri="{FF2B5EF4-FFF2-40B4-BE49-F238E27FC236}">
                <a16:creationId xmlns:a16="http://schemas.microsoft.com/office/drawing/2014/main" id="{90F6C084-C198-C74A-B006-BA2CBF875978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8424000" y="4590000"/>
            <a:ext cx="467640" cy="179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nl-NL" sz="1200" b="0" strike="noStrike" spc="-1">
                <a:solidFill>
                  <a:srgbClr val="787878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E4A526F-89FC-4B79-83A8-F387FECBA45E}" type="slidenum">
              <a:rPr lang="nl-NL" sz="1200" b="0" strike="noStrike" spc="-1">
                <a:solidFill>
                  <a:srgbClr val="787878"/>
                </a:solidFill>
                <a:latin typeface="Arial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5C23B0CB-659D-9F3B-6F98-41D36483B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92" y="788985"/>
            <a:ext cx="6594672" cy="380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785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F47B7-D25A-FE30-B3BA-0CCB27BA5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>
            <a:extLst>
              <a:ext uri="{FF2B5EF4-FFF2-40B4-BE49-F238E27FC236}">
                <a16:creationId xmlns:a16="http://schemas.microsoft.com/office/drawing/2014/main" id="{B91B5FF7-A06D-46D3-FFE7-A3DC589E9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95000"/>
              </a:lnSpc>
              <a:buNone/>
              <a:tabLst>
                <a:tab pos="0" algn="l"/>
              </a:tabLst>
            </a:pPr>
            <a:r>
              <a:rPr lang="nl-NL" sz="3000" b="1" spc="-1" dirty="0">
                <a:solidFill>
                  <a:srgbClr val="FFFFFF"/>
                </a:solidFill>
                <a:latin typeface="Arial"/>
              </a:rPr>
              <a:t>Data weergeven op je pagina (mooier)</a:t>
            </a:r>
            <a:endParaRPr lang="nl-NL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>
            <a:extLst>
              <a:ext uri="{FF2B5EF4-FFF2-40B4-BE49-F238E27FC236}">
                <a16:creationId xmlns:a16="http://schemas.microsoft.com/office/drawing/2014/main" id="{58137DFF-8B64-C310-C794-50973EA79F66}"/>
              </a:ext>
            </a:extLst>
          </p:cNvPr>
          <p:cNvSpPr>
            <a:spLocks noGrp="1"/>
          </p:cNvSpPr>
          <p:nvPr>
            <p:ph type="dt" idx="15"/>
          </p:nvPr>
        </p:nvSpPr>
        <p:spPr>
          <a:xfrm>
            <a:off x="504000" y="4590000"/>
            <a:ext cx="143964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defRPr lang="nl-NL" sz="9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nl-NL" sz="900" b="0" strike="noStrike" spc="-1">
                <a:solidFill>
                  <a:srgbClr val="000000"/>
                </a:solidFill>
                <a:latin typeface="Arial"/>
              </a:rPr>
              <a:t>2025-10-27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4">
            <a:extLst>
              <a:ext uri="{FF2B5EF4-FFF2-40B4-BE49-F238E27FC236}">
                <a16:creationId xmlns:a16="http://schemas.microsoft.com/office/drawing/2014/main" id="{0D6184F8-585F-4375-E95C-5AD4BD7E777A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8424000" y="4590000"/>
            <a:ext cx="467640" cy="179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nl-NL" sz="1200" b="0" strike="noStrike" spc="-1">
                <a:solidFill>
                  <a:srgbClr val="787878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E4A526F-89FC-4B79-83A8-F387FECBA45E}" type="slidenum">
              <a:rPr lang="nl-NL" sz="1200" b="0" strike="noStrike" spc="-1">
                <a:solidFill>
                  <a:srgbClr val="787878"/>
                </a:solidFill>
                <a:latin typeface="Arial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1CCE326C-A7D4-9AE0-D9DF-149383A3B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52" y="1082086"/>
            <a:ext cx="7616448" cy="336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36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5640" cy="97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95000"/>
              </a:lnSpc>
              <a:buNone/>
              <a:tabLst>
                <a:tab pos="0" algn="l"/>
              </a:tabLst>
            </a:pPr>
            <a:r>
              <a:rPr lang="nl-NL" sz="3000" b="1" strike="noStrike" spc="-1">
                <a:solidFill>
                  <a:srgbClr val="FFFFFF"/>
                </a:solidFill>
                <a:latin typeface="Arial"/>
              </a:rPr>
              <a:t>Opdracht</a:t>
            </a:r>
            <a:endParaRPr lang="nl-NL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504000" y="1566000"/>
            <a:ext cx="8135640" cy="286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nl-NL" sz="1300" spc="-1" dirty="0">
                <a:cs typeface="Arial"/>
              </a:rPr>
              <a:t>Ga aan de slag met de opdracht via classroom:</a:t>
            </a:r>
            <a:endParaRPr lang="en-US" sz="1300" spc="-1" dirty="0">
              <a:cs typeface="Arial"/>
            </a:endParaRPr>
          </a:p>
          <a:p>
            <a:pPr>
              <a:buNone/>
            </a:pPr>
            <a:r>
              <a:rPr lang="nl-NL" sz="2000" spc="-1" dirty="0">
                <a:cs typeface="Arial"/>
              </a:rPr>
              <a:t>https://classroom.github.com/a/WNs9vDRm</a:t>
            </a:r>
            <a:endParaRPr lang="nl-NL" sz="1300" spc="-1" dirty="0"/>
          </a:p>
        </p:txBody>
      </p:sp>
      <p:sp>
        <p:nvSpPr>
          <p:cNvPr id="130" name="PlaceHolder 3"/>
          <p:cNvSpPr>
            <a:spLocks noGrp="1"/>
          </p:cNvSpPr>
          <p:nvPr>
            <p:ph type="dt" idx="25"/>
          </p:nvPr>
        </p:nvSpPr>
        <p:spPr>
          <a:xfrm>
            <a:off x="504000" y="4590000"/>
            <a:ext cx="1439640" cy="1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lnSpc>
                <a:spcPct val="100000"/>
              </a:lnSpc>
              <a:buNone/>
              <a:defRPr lang="nl-NL" sz="900" b="0" strike="noStrike" spc="-1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nl-NL" sz="900" b="0" strike="noStrike" spc="-1">
                <a:solidFill>
                  <a:srgbClr val="000000"/>
                </a:solidFill>
                <a:latin typeface="Arial"/>
              </a:rPr>
              <a:t>2025-10-27</a:t>
            </a:r>
            <a:endParaRPr lang="en-US" sz="9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sldNum" idx="26"/>
          </p:nvPr>
        </p:nvSpPr>
        <p:spPr>
          <a:xfrm>
            <a:off x="8424000" y="4590000"/>
            <a:ext cx="467640" cy="179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nl-NL" sz="1200" b="0" strike="noStrike" spc="-1">
                <a:solidFill>
                  <a:srgbClr val="787878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DB4A86-AE87-4AC9-9E51-C7D9D0AC42C6}" type="slidenum">
              <a:rPr lang="nl-NL" sz="1200" b="0" strike="noStrike" spc="-1">
                <a:solidFill>
                  <a:srgbClr val="787878"/>
                </a:solidFill>
                <a:latin typeface="Arial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ROC Mondriaan Kleuren">
      <a:dk1>
        <a:srgbClr val="000000"/>
      </a:dk1>
      <a:lt1>
        <a:srgbClr val="FFFFFF"/>
      </a:lt1>
      <a:dk2>
        <a:srgbClr val="002355"/>
      </a:dk2>
      <a:lt2>
        <a:srgbClr val="E0E0E0"/>
      </a:lt2>
      <a:accent1>
        <a:srgbClr val="0050AA"/>
      </a:accent1>
      <a:accent2>
        <a:srgbClr val="E6002D"/>
      </a:accent2>
      <a:accent3>
        <a:srgbClr val="FDD200"/>
      </a:accent3>
      <a:accent4>
        <a:srgbClr val="B9DCFF"/>
      </a:accent4>
      <a:accent5>
        <a:srgbClr val="46C891"/>
      </a:accent5>
      <a:accent6>
        <a:srgbClr val="6E375A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hema">
  <a:themeElements>
    <a:clrScheme name="ROC Mondriaan Kleuren">
      <a:dk1>
        <a:srgbClr val="000000"/>
      </a:dk1>
      <a:lt1>
        <a:srgbClr val="FFFFFF"/>
      </a:lt1>
      <a:dk2>
        <a:srgbClr val="002355"/>
      </a:dk2>
      <a:lt2>
        <a:srgbClr val="E0E0E0"/>
      </a:lt2>
      <a:accent1>
        <a:srgbClr val="0050AA"/>
      </a:accent1>
      <a:accent2>
        <a:srgbClr val="E6002D"/>
      </a:accent2>
      <a:accent3>
        <a:srgbClr val="FDD200"/>
      </a:accent3>
      <a:accent4>
        <a:srgbClr val="B9DCFF"/>
      </a:accent4>
      <a:accent5>
        <a:srgbClr val="46C891"/>
      </a:accent5>
      <a:accent6>
        <a:srgbClr val="6E375A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a3a6c56-5871-4c56-864a-5d95d6715fab">
      <Terms xmlns="http://schemas.microsoft.com/office/infopath/2007/PartnerControls"/>
    </lcf76f155ced4ddcb4097134ff3c332f>
    <TaxCatchAll xmlns="6b3a5c67-3b82-4f06-b613-2298b92b89b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B89AFCFDEF74BBF70CF120520CADE" ma:contentTypeVersion="10" ma:contentTypeDescription="Create a new document." ma:contentTypeScope="" ma:versionID="7af003a4ec494b6c43636226c0803486">
  <xsd:schema xmlns:xsd="http://www.w3.org/2001/XMLSchema" xmlns:xs="http://www.w3.org/2001/XMLSchema" xmlns:p="http://schemas.microsoft.com/office/2006/metadata/properties" xmlns:ns2="0a3a6c56-5871-4c56-864a-5d95d6715fab" xmlns:ns3="6b3a5c67-3b82-4f06-b613-2298b92b89bb" targetNamespace="http://schemas.microsoft.com/office/2006/metadata/properties" ma:root="true" ma:fieldsID="35c28dfd40a2aeb7adec63c1e45149dc" ns2:_="" ns3:_="">
    <xsd:import namespace="0a3a6c56-5871-4c56-864a-5d95d6715fab"/>
    <xsd:import namespace="6b3a5c67-3b82-4f06-b613-2298b92b89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3a6c56-5871-4c56-864a-5d95d6715f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27928d4-2fba-4575-b28c-4dd47955e2e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3a5c67-3b82-4f06-b613-2298b92b89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485532e-b073-48ab-a956-f6fc4166c082}" ma:internalName="TaxCatchAll" ma:showField="CatchAllData" ma:web="6b3a5c67-3b82-4f06-b613-2298b92b89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17E5877-B51A-46FF-9DAA-E04971C730B5}">
  <ds:schemaRefs>
    <ds:schemaRef ds:uri="http://schemas.microsoft.com/office/2006/metadata/properties"/>
    <ds:schemaRef ds:uri="http://schemas.microsoft.com/office/infopath/2007/PartnerControls"/>
    <ds:schemaRef ds:uri="9c7db627-a19b-4420-ba46-d2da62c8f9f7"/>
    <ds:schemaRef ds:uri="http://schemas.microsoft.com/sharepoint/v3"/>
    <ds:schemaRef ds:uri="a95f19fb-cad5-4f59-9d9d-bfe7d2b05f17"/>
  </ds:schemaRefs>
</ds:datastoreItem>
</file>

<file path=customXml/itemProps2.xml><?xml version="1.0" encoding="utf-8"?>
<ds:datastoreItem xmlns:ds="http://schemas.openxmlformats.org/officeDocument/2006/customXml" ds:itemID="{CA4D62E7-55BC-415D-B975-CA5F27E8173A}"/>
</file>

<file path=customXml/itemProps3.xml><?xml version="1.0" encoding="utf-8"?>
<ds:datastoreItem xmlns:ds="http://schemas.openxmlformats.org/officeDocument/2006/customXml" ds:itemID="{DDC7E780-E92A-4469-A686-80D3F51DDA3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531</Words>
  <Application>Microsoft Office PowerPoint</Application>
  <PresentationFormat>Diavoorstelling (16:9)</PresentationFormat>
  <Paragraphs>68</Paragraphs>
  <Slides>11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2</vt:i4>
      </vt:variant>
      <vt:variant>
        <vt:lpstr>Diatitels</vt:lpstr>
      </vt:variant>
      <vt:variant>
        <vt:i4>11</vt:i4>
      </vt:variant>
    </vt:vector>
  </HeadingPairs>
  <TitlesOfParts>
    <vt:vector size="17" baseType="lpstr">
      <vt:lpstr>Arial</vt:lpstr>
      <vt:lpstr>Courier New</vt:lpstr>
      <vt:lpstr>Systeemlettertype regulier</vt:lpstr>
      <vt:lpstr>Times New Roman</vt:lpstr>
      <vt:lpstr>Office-thema</vt:lpstr>
      <vt:lpstr>Office-thema</vt:lpstr>
      <vt:lpstr>Next.js</vt:lpstr>
      <vt:lpstr>Terugblik: Les 4</vt:lpstr>
      <vt:lpstr>Lesdoelen</vt:lpstr>
      <vt:lpstr>Data Fetching in Server Components</vt:lpstr>
      <vt:lpstr>Prisma ORM: De Basis</vt:lpstr>
      <vt:lpstr>Database Seeding</vt:lpstr>
      <vt:lpstr>Prisma Client &amp; Scripts</vt:lpstr>
      <vt:lpstr>Data weergeven op je pagina</vt:lpstr>
      <vt:lpstr>Data weergeven op je pagina (mooier)</vt:lpstr>
      <vt:lpstr>Data weergeven op je pagina (mooier)</vt:lpstr>
      <vt:lpstr>Opdracht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Next.js</dc:title>
  <dc:subject/>
  <dc:creator>Les 3: Next.js Fundamentals - Data Fetching &amp; API Routes</dc:creator>
  <dc:description/>
  <cp:lastModifiedBy>Kleijwegt, Mark</cp:lastModifiedBy>
  <cp:revision>6</cp:revision>
  <dcterms:created xsi:type="dcterms:W3CDTF">2025-10-27T08:59:18Z</dcterms:created>
  <dcterms:modified xsi:type="dcterms:W3CDTF">2025-12-05T07:17:32Z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2025-10-27</vt:lpwstr>
  </property>
  <property fmtid="{D5CDD505-2E9C-101B-9397-08002B2CF9AE}" pid="3" name="ContentTypeId">
    <vt:lpwstr>0x010100AC5B89AFCFDEF74BBF70CF120520CADE</vt:lpwstr>
  </property>
  <property fmtid="{D5CDD505-2E9C-101B-9397-08002B2CF9AE}" pid="4" name="MediaServiceImageTags">
    <vt:lpwstr/>
  </property>
</Properties>
</file>